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1058" y="334585"/>
            <a:ext cx="2716529" cy="337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74767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74767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74767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74767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201" y="377409"/>
            <a:ext cx="5575935" cy="429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74767C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429000" cy="5143500"/>
            <a:chOff x="0" y="0"/>
            <a:chExt cx="3429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429000" cy="5143500"/>
            </a:xfrm>
            <a:custGeom>
              <a:avLst/>
              <a:gdLst/>
              <a:ahLst/>
              <a:cxnLst/>
              <a:rect l="l" t="t" r="r" b="b"/>
              <a:pathLst>
                <a:path w="3429000" h="5143500">
                  <a:moveTo>
                    <a:pt x="34290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429000" y="514350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41" y="106263"/>
              <a:ext cx="3287318" cy="493097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12412" y="1665909"/>
            <a:ext cx="398145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OLA</a:t>
            </a:r>
            <a:r>
              <a:rPr dirty="0" sz="2750" spc="-20"/>
              <a:t> </a:t>
            </a:r>
            <a:r>
              <a:rPr dirty="0" sz="2750"/>
              <a:t>Data</a:t>
            </a:r>
            <a:r>
              <a:rPr dirty="0" sz="2750" spc="-20"/>
              <a:t> </a:t>
            </a:r>
            <a:r>
              <a:rPr dirty="0" sz="2750"/>
              <a:t>Analyst</a:t>
            </a:r>
            <a:r>
              <a:rPr dirty="0" sz="2750" spc="-20"/>
              <a:t> </a:t>
            </a:r>
            <a:r>
              <a:rPr dirty="0" sz="2750" spc="-10"/>
              <a:t>Project</a:t>
            </a:r>
            <a:endParaRPr sz="2750"/>
          </a:p>
        </p:txBody>
      </p:sp>
      <p:sp>
        <p:nvSpPr>
          <p:cNvPr id="6" name="object 6"/>
          <p:cNvSpPr txBox="1"/>
          <p:nvPr/>
        </p:nvSpPr>
        <p:spPr>
          <a:xfrm>
            <a:off x="3912412" y="2270607"/>
            <a:ext cx="4495800" cy="69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hands-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on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synthetic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dataset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project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for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aspiring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analysts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covering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dataset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design,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SQL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queries,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Power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BI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dashboards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using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real-world ride-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hailing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scenarios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from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Bangalore.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25112" y="3186264"/>
            <a:ext cx="391795" cy="266700"/>
          </a:xfrm>
          <a:custGeom>
            <a:avLst/>
            <a:gdLst/>
            <a:ahLst/>
            <a:cxnLst/>
            <a:rect l="l" t="t" r="r" b="b"/>
            <a:pathLst>
              <a:path w="391795" h="266700">
                <a:moveTo>
                  <a:pt x="289643" y="0"/>
                </a:moveTo>
                <a:lnTo>
                  <a:pt x="102071" y="0"/>
                </a:lnTo>
                <a:lnTo>
                  <a:pt x="62500" y="8074"/>
                </a:lnTo>
                <a:lnTo>
                  <a:pt x="30037" y="30037"/>
                </a:lnTo>
                <a:lnTo>
                  <a:pt x="8074" y="62498"/>
                </a:lnTo>
                <a:lnTo>
                  <a:pt x="0" y="102069"/>
                </a:lnTo>
                <a:lnTo>
                  <a:pt x="0" y="164325"/>
                </a:lnTo>
                <a:lnTo>
                  <a:pt x="8074" y="203898"/>
                </a:lnTo>
                <a:lnTo>
                  <a:pt x="30037" y="236364"/>
                </a:lnTo>
                <a:lnTo>
                  <a:pt x="62500" y="258331"/>
                </a:lnTo>
                <a:lnTo>
                  <a:pt x="102071" y="266407"/>
                </a:lnTo>
                <a:lnTo>
                  <a:pt x="289643" y="266407"/>
                </a:lnTo>
                <a:lnTo>
                  <a:pt x="329215" y="258331"/>
                </a:lnTo>
                <a:lnTo>
                  <a:pt x="361678" y="236364"/>
                </a:lnTo>
                <a:lnTo>
                  <a:pt x="383641" y="203898"/>
                </a:lnTo>
                <a:lnTo>
                  <a:pt x="391716" y="164325"/>
                </a:lnTo>
                <a:lnTo>
                  <a:pt x="391716" y="102069"/>
                </a:lnTo>
                <a:lnTo>
                  <a:pt x="383641" y="62498"/>
                </a:lnTo>
                <a:lnTo>
                  <a:pt x="361678" y="30037"/>
                </a:lnTo>
                <a:lnTo>
                  <a:pt x="329215" y="8074"/>
                </a:lnTo>
                <a:lnTo>
                  <a:pt x="289643" y="0"/>
                </a:lnTo>
                <a:close/>
              </a:path>
            </a:pathLst>
          </a:custGeom>
          <a:solidFill>
            <a:srgbClr val="DFE0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97477" y="3213760"/>
            <a:ext cx="2419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SQL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87672" y="3181502"/>
            <a:ext cx="721360" cy="276225"/>
          </a:xfrm>
          <a:custGeom>
            <a:avLst/>
            <a:gdLst/>
            <a:ahLst/>
            <a:cxnLst/>
            <a:rect l="l" t="t" r="r" b="b"/>
            <a:pathLst>
              <a:path w="721360" h="276225">
                <a:moveTo>
                  <a:pt x="0" y="102069"/>
                </a:moveTo>
                <a:lnTo>
                  <a:pt x="8074" y="62498"/>
                </a:lnTo>
                <a:lnTo>
                  <a:pt x="30038" y="30037"/>
                </a:lnTo>
                <a:lnTo>
                  <a:pt x="62501" y="8074"/>
                </a:lnTo>
                <a:lnTo>
                  <a:pt x="102073" y="0"/>
                </a:lnTo>
                <a:lnTo>
                  <a:pt x="618775" y="0"/>
                </a:lnTo>
                <a:lnTo>
                  <a:pt x="658347" y="8074"/>
                </a:lnTo>
                <a:lnTo>
                  <a:pt x="690810" y="30037"/>
                </a:lnTo>
                <a:lnTo>
                  <a:pt x="712774" y="62498"/>
                </a:lnTo>
                <a:lnTo>
                  <a:pt x="720849" y="102069"/>
                </a:lnTo>
                <a:lnTo>
                  <a:pt x="720849" y="173850"/>
                </a:lnTo>
                <a:lnTo>
                  <a:pt x="712774" y="213421"/>
                </a:lnTo>
                <a:lnTo>
                  <a:pt x="690810" y="245883"/>
                </a:lnTo>
                <a:lnTo>
                  <a:pt x="658347" y="267845"/>
                </a:lnTo>
                <a:lnTo>
                  <a:pt x="618775" y="275920"/>
                </a:lnTo>
                <a:lnTo>
                  <a:pt x="102073" y="275920"/>
                </a:lnTo>
                <a:lnTo>
                  <a:pt x="62501" y="267845"/>
                </a:lnTo>
                <a:lnTo>
                  <a:pt x="30038" y="245883"/>
                </a:lnTo>
                <a:lnTo>
                  <a:pt x="8074" y="213421"/>
                </a:lnTo>
                <a:lnTo>
                  <a:pt x="0" y="173850"/>
                </a:lnTo>
                <a:lnTo>
                  <a:pt x="0" y="102069"/>
                </a:lnTo>
                <a:close/>
              </a:path>
            </a:pathLst>
          </a:custGeom>
          <a:ln w="4762">
            <a:solidFill>
              <a:srgbClr val="C5C8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64799" y="3213760"/>
            <a:ext cx="5651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C5C8DC"/>
                </a:solidFill>
                <a:latin typeface="Arial MT"/>
                <a:cs typeface="Arial MT"/>
              </a:rPr>
              <a:t>POWER</a:t>
            </a:r>
            <a:r>
              <a:rPr dirty="0" sz="850" spc="-20">
                <a:solidFill>
                  <a:srgbClr val="C5C8DC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C5C8DC"/>
                </a:solidFill>
                <a:latin typeface="Arial MT"/>
                <a:cs typeface="Arial MT"/>
              </a:rPr>
              <a:t>BI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79364" y="3181502"/>
            <a:ext cx="1096645" cy="276225"/>
          </a:xfrm>
          <a:custGeom>
            <a:avLst/>
            <a:gdLst/>
            <a:ahLst/>
            <a:cxnLst/>
            <a:rect l="l" t="t" r="r" b="b"/>
            <a:pathLst>
              <a:path w="1096645" h="276225">
                <a:moveTo>
                  <a:pt x="0" y="102069"/>
                </a:moveTo>
                <a:lnTo>
                  <a:pt x="8074" y="62498"/>
                </a:lnTo>
                <a:lnTo>
                  <a:pt x="30038" y="30037"/>
                </a:lnTo>
                <a:lnTo>
                  <a:pt x="62501" y="8074"/>
                </a:lnTo>
                <a:lnTo>
                  <a:pt x="102073" y="0"/>
                </a:lnTo>
                <a:lnTo>
                  <a:pt x="994120" y="0"/>
                </a:lnTo>
                <a:lnTo>
                  <a:pt x="1033692" y="8074"/>
                </a:lnTo>
                <a:lnTo>
                  <a:pt x="1066155" y="30037"/>
                </a:lnTo>
                <a:lnTo>
                  <a:pt x="1088119" y="62498"/>
                </a:lnTo>
                <a:lnTo>
                  <a:pt x="1096194" y="102069"/>
                </a:lnTo>
                <a:lnTo>
                  <a:pt x="1096194" y="173850"/>
                </a:lnTo>
                <a:lnTo>
                  <a:pt x="1088119" y="213421"/>
                </a:lnTo>
                <a:lnTo>
                  <a:pt x="1066155" y="245883"/>
                </a:lnTo>
                <a:lnTo>
                  <a:pt x="1033692" y="267845"/>
                </a:lnTo>
                <a:lnTo>
                  <a:pt x="994120" y="275920"/>
                </a:lnTo>
                <a:lnTo>
                  <a:pt x="102073" y="275920"/>
                </a:lnTo>
                <a:lnTo>
                  <a:pt x="62501" y="267845"/>
                </a:lnTo>
                <a:lnTo>
                  <a:pt x="30038" y="245883"/>
                </a:lnTo>
                <a:lnTo>
                  <a:pt x="8074" y="213421"/>
                </a:lnTo>
                <a:lnTo>
                  <a:pt x="0" y="173850"/>
                </a:lnTo>
                <a:lnTo>
                  <a:pt x="0" y="102069"/>
                </a:lnTo>
                <a:close/>
              </a:path>
            </a:pathLst>
          </a:custGeom>
          <a:ln w="4762">
            <a:solidFill>
              <a:srgbClr val="C5C8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56479" y="3213760"/>
            <a:ext cx="91821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C5C8DC"/>
                </a:solidFill>
                <a:latin typeface="Arial MT"/>
                <a:cs typeface="Arial MT"/>
              </a:rPr>
              <a:t>DATA</a:t>
            </a:r>
            <a:r>
              <a:rPr dirty="0" sz="850" spc="-25">
                <a:solidFill>
                  <a:srgbClr val="C5C8D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C5C8DC"/>
                </a:solidFill>
                <a:latin typeface="Arial MT"/>
                <a:cs typeface="Arial MT"/>
              </a:rPr>
              <a:t>MODELING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419" y="757758"/>
            <a:ext cx="278003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Dataset</a:t>
            </a:r>
            <a:r>
              <a:rPr dirty="0" sz="2750" spc="-25"/>
              <a:t> </a:t>
            </a:r>
            <a:r>
              <a:rPr dirty="0" sz="2750" spc="-10"/>
              <a:t>Overview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3414" y="1433372"/>
            <a:ext cx="802894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dataset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contains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3C3D44"/>
                </a:solidFill>
                <a:latin typeface="Arial"/>
                <a:cs typeface="Arial"/>
              </a:rPr>
              <a:t>19</a:t>
            </a:r>
            <a:r>
              <a:rPr dirty="0" sz="1100" spc="-2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3C3D44"/>
                </a:solidFill>
                <a:latin typeface="Arial"/>
                <a:cs typeface="Arial"/>
              </a:rPr>
              <a:t>columns</a:t>
            </a:r>
            <a:r>
              <a:rPr dirty="0" sz="1100" spc="-20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modeling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real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OLA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bookings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from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Bangalore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including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metadata,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types,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location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data,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cancellation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reasons,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ratings,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payment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details.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737" y="2115076"/>
            <a:ext cx="4010025" cy="1058545"/>
            <a:chOff x="493737" y="2115076"/>
            <a:chExt cx="4010025" cy="1058545"/>
          </a:xfrm>
        </p:grpSpPr>
        <p:sp>
          <p:nvSpPr>
            <p:cNvPr id="5" name="object 5"/>
            <p:cNvSpPr/>
            <p:nvPr/>
          </p:nvSpPr>
          <p:spPr>
            <a:xfrm>
              <a:off x="496119" y="211745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877373" y="0"/>
                  </a:moveTo>
                  <a:lnTo>
                    <a:pt x="127593" y="0"/>
                  </a:lnTo>
                  <a:lnTo>
                    <a:pt x="78127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925588"/>
                  </a:lnTo>
                  <a:lnTo>
                    <a:pt x="10093" y="975052"/>
                  </a:lnTo>
                  <a:lnTo>
                    <a:pt x="37548" y="1015633"/>
                  </a:lnTo>
                  <a:lnTo>
                    <a:pt x="78127" y="1043090"/>
                  </a:lnTo>
                  <a:lnTo>
                    <a:pt x="127593" y="1053185"/>
                  </a:lnTo>
                  <a:lnTo>
                    <a:pt x="3877373" y="1053185"/>
                  </a:lnTo>
                  <a:lnTo>
                    <a:pt x="3926837" y="1043090"/>
                  </a:lnTo>
                  <a:lnTo>
                    <a:pt x="3967418" y="1015633"/>
                  </a:lnTo>
                  <a:lnTo>
                    <a:pt x="3994875" y="975052"/>
                  </a:lnTo>
                  <a:lnTo>
                    <a:pt x="4004970" y="925588"/>
                  </a:lnTo>
                  <a:lnTo>
                    <a:pt x="4004970" y="127596"/>
                  </a:lnTo>
                  <a:lnTo>
                    <a:pt x="3994875" y="78127"/>
                  </a:lnTo>
                  <a:lnTo>
                    <a:pt x="3967418" y="37547"/>
                  </a:lnTo>
                  <a:lnTo>
                    <a:pt x="3926837" y="10092"/>
                  </a:lnTo>
                  <a:lnTo>
                    <a:pt x="3877373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6119" y="211745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7" y="10092"/>
                  </a:lnTo>
                  <a:lnTo>
                    <a:pt x="127593" y="0"/>
                  </a:lnTo>
                  <a:lnTo>
                    <a:pt x="3877373" y="0"/>
                  </a:lnTo>
                  <a:lnTo>
                    <a:pt x="3926837" y="10092"/>
                  </a:lnTo>
                  <a:lnTo>
                    <a:pt x="3967418" y="37547"/>
                  </a:lnTo>
                  <a:lnTo>
                    <a:pt x="3994875" y="78127"/>
                  </a:lnTo>
                  <a:lnTo>
                    <a:pt x="4004970" y="127596"/>
                  </a:lnTo>
                  <a:lnTo>
                    <a:pt x="4004970" y="925588"/>
                  </a:lnTo>
                  <a:lnTo>
                    <a:pt x="3994875" y="975052"/>
                  </a:lnTo>
                  <a:lnTo>
                    <a:pt x="3967418" y="1015633"/>
                  </a:lnTo>
                  <a:lnTo>
                    <a:pt x="3926837" y="1043090"/>
                  </a:lnTo>
                  <a:lnTo>
                    <a:pt x="3877373" y="1053185"/>
                  </a:lnTo>
                  <a:lnTo>
                    <a:pt x="127593" y="1053185"/>
                  </a:lnTo>
                  <a:lnTo>
                    <a:pt x="78127" y="1043090"/>
                  </a:lnTo>
                  <a:lnTo>
                    <a:pt x="37548" y="1015633"/>
                  </a:lnTo>
                  <a:lnTo>
                    <a:pt x="10093" y="975052"/>
                  </a:lnTo>
                  <a:lnTo>
                    <a:pt x="0" y="92558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9940" y="2247645"/>
            <a:ext cx="325120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13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3C3D44"/>
                </a:solidFill>
                <a:latin typeface="Arial MT"/>
                <a:cs typeface="Arial MT"/>
              </a:rPr>
              <a:t>Info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Date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Time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ID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(CNR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+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10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digits)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Status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·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ID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40459" y="2115076"/>
            <a:ext cx="4010025" cy="1058545"/>
            <a:chOff x="4640459" y="2115076"/>
            <a:chExt cx="4010025" cy="1058545"/>
          </a:xfrm>
        </p:grpSpPr>
        <p:sp>
          <p:nvSpPr>
            <p:cNvPr id="9" name="object 9"/>
            <p:cNvSpPr/>
            <p:nvPr/>
          </p:nvSpPr>
          <p:spPr>
            <a:xfrm>
              <a:off x="4642840" y="211745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877449" y="0"/>
                  </a:moveTo>
                  <a:lnTo>
                    <a:pt x="127593" y="0"/>
                  </a:lnTo>
                  <a:lnTo>
                    <a:pt x="78127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925588"/>
                  </a:lnTo>
                  <a:lnTo>
                    <a:pt x="10093" y="975052"/>
                  </a:lnTo>
                  <a:lnTo>
                    <a:pt x="37548" y="1015633"/>
                  </a:lnTo>
                  <a:lnTo>
                    <a:pt x="78127" y="1043090"/>
                  </a:lnTo>
                  <a:lnTo>
                    <a:pt x="127593" y="1053185"/>
                  </a:lnTo>
                  <a:lnTo>
                    <a:pt x="3877449" y="1053185"/>
                  </a:lnTo>
                  <a:lnTo>
                    <a:pt x="3926911" y="1043090"/>
                  </a:lnTo>
                  <a:lnTo>
                    <a:pt x="3967487" y="1015633"/>
                  </a:lnTo>
                  <a:lnTo>
                    <a:pt x="3994941" y="975052"/>
                  </a:lnTo>
                  <a:lnTo>
                    <a:pt x="4005033" y="925588"/>
                  </a:lnTo>
                  <a:lnTo>
                    <a:pt x="4005033" y="127596"/>
                  </a:lnTo>
                  <a:lnTo>
                    <a:pt x="3994941" y="78127"/>
                  </a:lnTo>
                  <a:lnTo>
                    <a:pt x="3967487" y="37547"/>
                  </a:lnTo>
                  <a:lnTo>
                    <a:pt x="3926911" y="10092"/>
                  </a:lnTo>
                  <a:lnTo>
                    <a:pt x="3877449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642840" y="211745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7" y="10092"/>
                  </a:lnTo>
                  <a:lnTo>
                    <a:pt x="127593" y="0"/>
                  </a:lnTo>
                  <a:lnTo>
                    <a:pt x="3877449" y="0"/>
                  </a:lnTo>
                  <a:lnTo>
                    <a:pt x="3926911" y="10092"/>
                  </a:lnTo>
                  <a:lnTo>
                    <a:pt x="3967487" y="37547"/>
                  </a:lnTo>
                  <a:lnTo>
                    <a:pt x="3994941" y="78127"/>
                  </a:lnTo>
                  <a:lnTo>
                    <a:pt x="4005033" y="127596"/>
                  </a:lnTo>
                  <a:lnTo>
                    <a:pt x="4005033" y="925588"/>
                  </a:lnTo>
                  <a:lnTo>
                    <a:pt x="3994941" y="975052"/>
                  </a:lnTo>
                  <a:lnTo>
                    <a:pt x="3967487" y="1015633"/>
                  </a:lnTo>
                  <a:lnTo>
                    <a:pt x="3926911" y="1043090"/>
                  </a:lnTo>
                  <a:lnTo>
                    <a:pt x="3877449" y="1053185"/>
                  </a:lnTo>
                  <a:lnTo>
                    <a:pt x="127593" y="1053185"/>
                  </a:lnTo>
                  <a:lnTo>
                    <a:pt x="78127" y="1043090"/>
                  </a:lnTo>
                  <a:lnTo>
                    <a:pt x="37548" y="1015633"/>
                  </a:lnTo>
                  <a:lnTo>
                    <a:pt x="10093" y="975052"/>
                  </a:lnTo>
                  <a:lnTo>
                    <a:pt x="0" y="92558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776660" y="2247645"/>
            <a:ext cx="3216275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3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Details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Type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Pickup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Drop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(50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Bangalore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areas)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·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Distance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Value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3737" y="3310007"/>
            <a:ext cx="4010025" cy="1058545"/>
            <a:chOff x="493737" y="3310007"/>
            <a:chExt cx="4010025" cy="1058545"/>
          </a:xfrm>
        </p:grpSpPr>
        <p:sp>
          <p:nvSpPr>
            <p:cNvPr id="13" name="object 13"/>
            <p:cNvSpPr/>
            <p:nvPr/>
          </p:nvSpPr>
          <p:spPr>
            <a:xfrm>
              <a:off x="496119" y="331238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877373" y="0"/>
                  </a:moveTo>
                  <a:lnTo>
                    <a:pt x="127593" y="0"/>
                  </a:lnTo>
                  <a:lnTo>
                    <a:pt x="78127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925588"/>
                  </a:lnTo>
                  <a:lnTo>
                    <a:pt x="10093" y="975052"/>
                  </a:lnTo>
                  <a:lnTo>
                    <a:pt x="37548" y="1015633"/>
                  </a:lnTo>
                  <a:lnTo>
                    <a:pt x="78127" y="1043090"/>
                  </a:lnTo>
                  <a:lnTo>
                    <a:pt x="127593" y="1053185"/>
                  </a:lnTo>
                  <a:lnTo>
                    <a:pt x="3877373" y="1053185"/>
                  </a:lnTo>
                  <a:lnTo>
                    <a:pt x="3926837" y="1043090"/>
                  </a:lnTo>
                  <a:lnTo>
                    <a:pt x="3967418" y="1015633"/>
                  </a:lnTo>
                  <a:lnTo>
                    <a:pt x="3994875" y="975052"/>
                  </a:lnTo>
                  <a:lnTo>
                    <a:pt x="4004970" y="925588"/>
                  </a:lnTo>
                  <a:lnTo>
                    <a:pt x="4004970" y="127596"/>
                  </a:lnTo>
                  <a:lnTo>
                    <a:pt x="3994875" y="78127"/>
                  </a:lnTo>
                  <a:lnTo>
                    <a:pt x="3967418" y="37547"/>
                  </a:lnTo>
                  <a:lnTo>
                    <a:pt x="3926837" y="10092"/>
                  </a:lnTo>
                  <a:lnTo>
                    <a:pt x="3877373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6119" y="331238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7" y="10092"/>
                  </a:lnTo>
                  <a:lnTo>
                    <a:pt x="127593" y="0"/>
                  </a:lnTo>
                  <a:lnTo>
                    <a:pt x="3877373" y="0"/>
                  </a:lnTo>
                  <a:lnTo>
                    <a:pt x="3926837" y="10092"/>
                  </a:lnTo>
                  <a:lnTo>
                    <a:pt x="3967418" y="37547"/>
                  </a:lnTo>
                  <a:lnTo>
                    <a:pt x="3994875" y="78127"/>
                  </a:lnTo>
                  <a:lnTo>
                    <a:pt x="4004970" y="127596"/>
                  </a:lnTo>
                  <a:lnTo>
                    <a:pt x="4004970" y="925588"/>
                  </a:lnTo>
                  <a:lnTo>
                    <a:pt x="3994875" y="975052"/>
                  </a:lnTo>
                  <a:lnTo>
                    <a:pt x="3967418" y="1015633"/>
                  </a:lnTo>
                  <a:lnTo>
                    <a:pt x="3926837" y="1043090"/>
                  </a:lnTo>
                  <a:lnTo>
                    <a:pt x="3877373" y="1053185"/>
                  </a:lnTo>
                  <a:lnTo>
                    <a:pt x="127593" y="1053185"/>
                  </a:lnTo>
                  <a:lnTo>
                    <a:pt x="78127" y="1043090"/>
                  </a:lnTo>
                  <a:lnTo>
                    <a:pt x="37548" y="1015633"/>
                  </a:lnTo>
                  <a:lnTo>
                    <a:pt x="10093" y="975052"/>
                  </a:lnTo>
                  <a:lnTo>
                    <a:pt x="0" y="92558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29940" y="3442576"/>
            <a:ext cx="3192145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Performance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V-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TAT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C-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TAT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0459" y="3310007"/>
            <a:ext cx="4010025" cy="1058545"/>
            <a:chOff x="4640459" y="3310007"/>
            <a:chExt cx="4010025" cy="1058545"/>
          </a:xfrm>
        </p:grpSpPr>
        <p:sp>
          <p:nvSpPr>
            <p:cNvPr id="17" name="object 17"/>
            <p:cNvSpPr/>
            <p:nvPr/>
          </p:nvSpPr>
          <p:spPr>
            <a:xfrm>
              <a:off x="4642840" y="331238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3877449" y="0"/>
                  </a:moveTo>
                  <a:lnTo>
                    <a:pt x="127593" y="0"/>
                  </a:lnTo>
                  <a:lnTo>
                    <a:pt x="78127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925588"/>
                  </a:lnTo>
                  <a:lnTo>
                    <a:pt x="10093" y="975052"/>
                  </a:lnTo>
                  <a:lnTo>
                    <a:pt x="37548" y="1015633"/>
                  </a:lnTo>
                  <a:lnTo>
                    <a:pt x="78127" y="1043090"/>
                  </a:lnTo>
                  <a:lnTo>
                    <a:pt x="127593" y="1053185"/>
                  </a:lnTo>
                  <a:lnTo>
                    <a:pt x="3877449" y="1053185"/>
                  </a:lnTo>
                  <a:lnTo>
                    <a:pt x="3926911" y="1043090"/>
                  </a:lnTo>
                  <a:lnTo>
                    <a:pt x="3967487" y="1015633"/>
                  </a:lnTo>
                  <a:lnTo>
                    <a:pt x="3994941" y="975052"/>
                  </a:lnTo>
                  <a:lnTo>
                    <a:pt x="4005033" y="925588"/>
                  </a:lnTo>
                  <a:lnTo>
                    <a:pt x="4005033" y="127596"/>
                  </a:lnTo>
                  <a:lnTo>
                    <a:pt x="3994941" y="78127"/>
                  </a:lnTo>
                  <a:lnTo>
                    <a:pt x="3967487" y="37547"/>
                  </a:lnTo>
                  <a:lnTo>
                    <a:pt x="3926911" y="10092"/>
                  </a:lnTo>
                  <a:lnTo>
                    <a:pt x="3877449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42840" y="3312388"/>
              <a:ext cx="4005579" cy="1053465"/>
            </a:xfrm>
            <a:custGeom>
              <a:avLst/>
              <a:gdLst/>
              <a:ahLst/>
              <a:cxnLst/>
              <a:rect l="l" t="t" r="r" b="b"/>
              <a:pathLst>
                <a:path w="4005579" h="1053464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7" y="10092"/>
                  </a:lnTo>
                  <a:lnTo>
                    <a:pt x="127593" y="0"/>
                  </a:lnTo>
                  <a:lnTo>
                    <a:pt x="3877449" y="0"/>
                  </a:lnTo>
                  <a:lnTo>
                    <a:pt x="3926911" y="10092"/>
                  </a:lnTo>
                  <a:lnTo>
                    <a:pt x="3967487" y="37547"/>
                  </a:lnTo>
                  <a:lnTo>
                    <a:pt x="3994941" y="78127"/>
                  </a:lnTo>
                  <a:lnTo>
                    <a:pt x="4005033" y="127596"/>
                  </a:lnTo>
                  <a:lnTo>
                    <a:pt x="4005033" y="925588"/>
                  </a:lnTo>
                  <a:lnTo>
                    <a:pt x="3994941" y="975052"/>
                  </a:lnTo>
                  <a:lnTo>
                    <a:pt x="3967487" y="1015633"/>
                  </a:lnTo>
                  <a:lnTo>
                    <a:pt x="3926911" y="1043090"/>
                  </a:lnTo>
                  <a:lnTo>
                    <a:pt x="3877449" y="1053185"/>
                  </a:lnTo>
                  <a:lnTo>
                    <a:pt x="127593" y="1053185"/>
                  </a:lnTo>
                  <a:lnTo>
                    <a:pt x="78127" y="1043090"/>
                  </a:lnTo>
                  <a:lnTo>
                    <a:pt x="37548" y="1015633"/>
                  </a:lnTo>
                  <a:lnTo>
                    <a:pt x="10093" y="975052"/>
                  </a:lnTo>
                  <a:lnTo>
                    <a:pt x="0" y="925588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76660" y="3442576"/>
            <a:ext cx="337185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Cancellations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&amp;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cancel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reasons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Incomplete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·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Payment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Method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dirty="0" sz="2250"/>
              <a:t>Vehicle</a:t>
            </a:r>
            <a:r>
              <a:rPr dirty="0" sz="2250" spc="-20"/>
              <a:t> </a:t>
            </a:r>
            <a:r>
              <a:rPr dirty="0" sz="2250"/>
              <a:t>Types</a:t>
            </a:r>
            <a:r>
              <a:rPr dirty="0" sz="2250" spc="-15"/>
              <a:t> </a:t>
            </a:r>
            <a:r>
              <a:rPr dirty="0" sz="2250"/>
              <a:t>&amp;</a:t>
            </a:r>
            <a:r>
              <a:rPr dirty="0" sz="2250" spc="-15"/>
              <a:t> </a:t>
            </a:r>
            <a:r>
              <a:rPr dirty="0" sz="2250"/>
              <a:t>Booking</a:t>
            </a:r>
            <a:r>
              <a:rPr dirty="0" sz="2250" spc="-15"/>
              <a:t> </a:t>
            </a:r>
            <a:r>
              <a:rPr dirty="0" sz="2250" spc="-10"/>
              <a:t>Status</a:t>
            </a:r>
            <a:endParaRPr sz="2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065" y="965374"/>
            <a:ext cx="2599055" cy="25990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70173" y="1792376"/>
            <a:ext cx="2007235" cy="927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7</a:t>
            </a:r>
            <a:r>
              <a:rPr dirty="0" sz="1100" spc="-3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Vehicle</a:t>
            </a:r>
            <a:r>
              <a:rPr dirty="0" sz="1100" spc="-3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Categories</a:t>
            </a:r>
            <a:endParaRPr sz="1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35"/>
              </a:spcBef>
              <a:buChar char="•"/>
              <a:tabLst>
                <a:tab pos="354965" algn="l"/>
              </a:tabLst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Auto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Prime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Plus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Prime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Sedan</a:t>
            </a:r>
            <a:endParaRPr sz="9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Char char="•"/>
              <a:tabLst>
                <a:tab pos="354965" algn="l"/>
              </a:tabLst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Mini</a:t>
            </a:r>
            <a:r>
              <a:rPr dirty="0" sz="9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Bike</a:t>
            </a:r>
            <a:r>
              <a:rPr dirty="0" sz="9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eBike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9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Prime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SUV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Booking</a:t>
            </a:r>
            <a:r>
              <a:rPr dirty="0" sz="1100" spc="-4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Status</a:t>
            </a:r>
            <a:r>
              <a:rPr dirty="0" sz="1100" spc="-3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Distribution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3778" y="3774871"/>
            <a:ext cx="1931047" cy="10087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7633" y="3804355"/>
            <a:ext cx="1421765" cy="64960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100" spc="405">
                <a:latin typeface="SimSun-ExtB"/>
                <a:cs typeface="SimSun-ExtB"/>
              </a:rPr>
              <a:t>o</a:t>
            </a:r>
            <a:r>
              <a:rPr dirty="0" sz="1100" spc="-245">
                <a:latin typeface="SimSun-ExtB"/>
                <a:cs typeface="SimSun-ExtB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Success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62%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1000"/>
              </a:lnSpc>
              <a:spcBef>
                <a:spcPts val="320"/>
              </a:spcBef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Fare,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ratings,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TAT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data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populated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4076" y="3774871"/>
            <a:ext cx="1931123" cy="10087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67926" y="3876542"/>
            <a:ext cx="1638935" cy="7575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755">
                <a:latin typeface="Arial MT"/>
                <a:cs typeface="Arial MT"/>
              </a:rPr>
              <a:t>🚗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Cancelled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by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415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≤18%</a:t>
            </a:r>
            <a:endParaRPr sz="1100">
              <a:latin typeface="Arial MT"/>
              <a:cs typeface="Arial MT"/>
            </a:endParaRPr>
          </a:p>
          <a:p>
            <a:pPr marL="12700" marR="240665">
              <a:lnSpc>
                <a:spcPct val="121000"/>
              </a:lnSpc>
              <a:spcBef>
                <a:spcPts val="315"/>
              </a:spcBef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Personal</a:t>
            </a:r>
            <a:r>
              <a:rPr dirty="0" sz="90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issues,</a:t>
            </a:r>
            <a:r>
              <a:rPr dirty="0" sz="90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customer-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related</a:t>
            </a:r>
            <a:r>
              <a:rPr dirty="0" sz="9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reasons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4448" y="3774871"/>
            <a:ext cx="1931047" cy="10087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778298" y="3876542"/>
            <a:ext cx="123253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855">
              <a:lnSpc>
                <a:spcPct val="107200"/>
              </a:lnSpc>
              <a:spcBef>
                <a:spcPts val="100"/>
              </a:spcBef>
            </a:pPr>
            <a:r>
              <a:rPr dirty="0" sz="1100" spc="755">
                <a:latin typeface="Arial MT"/>
                <a:cs typeface="Arial MT"/>
              </a:rPr>
              <a:t>👤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Cancelled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by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 —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≤7%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1000"/>
              </a:lnSpc>
              <a:spcBef>
                <a:spcPts val="315"/>
              </a:spcBef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Change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of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plans,</a:t>
            </a:r>
            <a:r>
              <a:rPr dirty="0" sz="9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wrong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address,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AC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issues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4744" y="3774871"/>
            <a:ext cx="1931123" cy="10087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788594" y="3804355"/>
            <a:ext cx="1605915" cy="64960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100" spc="-530">
                <a:latin typeface="Segoe UI Emoji"/>
                <a:cs typeface="Segoe UI Emoji"/>
              </a:rPr>
              <a:t>⚠</a:t>
            </a:r>
            <a:r>
              <a:rPr dirty="0" sz="1100">
                <a:latin typeface="Segoe UI Emoji"/>
                <a:cs typeface="Segoe UI Emoji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Incomplete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&lt;6%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1000"/>
              </a:lnSpc>
              <a:spcBef>
                <a:spcPts val="320"/>
              </a:spcBef>
            </a:pP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Breakdown,</a:t>
            </a:r>
            <a:r>
              <a:rPr dirty="0" sz="9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9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demand, </a:t>
            </a:r>
            <a:r>
              <a:rPr dirty="0" sz="900">
                <a:solidFill>
                  <a:srgbClr val="3C3D44"/>
                </a:solidFill>
                <a:latin typeface="Arial MT"/>
                <a:cs typeface="Arial MT"/>
              </a:rPr>
              <a:t>other </a:t>
            </a:r>
            <a:r>
              <a:rPr dirty="0" sz="900" spc="-10">
                <a:solidFill>
                  <a:srgbClr val="3C3D44"/>
                </a:solidFill>
                <a:latin typeface="Arial MT"/>
                <a:cs typeface="Arial MT"/>
              </a:rPr>
              <a:t>issues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Data</a:t>
            </a:r>
            <a:r>
              <a:rPr dirty="0" sz="2650" spc="-90"/>
              <a:t> </a:t>
            </a:r>
            <a:r>
              <a:rPr dirty="0" sz="2650"/>
              <a:t>Constraints</a:t>
            </a:r>
            <a:r>
              <a:rPr dirty="0" sz="2650" spc="-90"/>
              <a:t> </a:t>
            </a:r>
            <a:r>
              <a:rPr dirty="0" sz="2650"/>
              <a:t>&amp;</a:t>
            </a:r>
            <a:r>
              <a:rPr dirty="0" sz="2650" spc="-90"/>
              <a:t> </a:t>
            </a:r>
            <a:r>
              <a:rPr dirty="0" sz="2650"/>
              <a:t>Distribution</a:t>
            </a:r>
            <a:r>
              <a:rPr dirty="0" sz="2650" spc="-90"/>
              <a:t> </a:t>
            </a:r>
            <a:r>
              <a:rPr dirty="0" sz="2650" spc="-10"/>
              <a:t>Rules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460201" y="1061549"/>
            <a:ext cx="37369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Key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rules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that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shape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synthetic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dataset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for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realistic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analysis.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457" y="1387779"/>
            <a:ext cx="3240405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3C3D44"/>
                </a:solidFill>
                <a:latin typeface="Arial MT"/>
                <a:cs typeface="Arial MT"/>
              </a:rPr>
              <a:t>62%</a:t>
            </a:r>
            <a:endParaRPr sz="3500">
              <a:latin typeface="Arial MT"/>
              <a:cs typeface="Arial MT"/>
            </a:endParaRPr>
          </a:p>
          <a:p>
            <a:pPr algn="ctr" marL="1270">
              <a:lnSpc>
                <a:spcPct val="100000"/>
              </a:lnSpc>
              <a:spcBef>
                <a:spcPts val="1360"/>
              </a:spcBef>
            </a:pP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Success</a:t>
            </a:r>
            <a:r>
              <a:rPr dirty="0" sz="13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3C3D44"/>
                </a:solidFill>
                <a:latin typeface="Arial MT"/>
                <a:cs typeface="Arial MT"/>
              </a:rPr>
              <a:t>Rate</a:t>
            </a:r>
            <a:endParaRPr sz="13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Only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successful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0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carry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fare,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ratings,</a:t>
            </a:r>
            <a:r>
              <a:rPr dirty="0" sz="10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TAT</a:t>
            </a:r>
            <a:r>
              <a:rPr dirty="0" sz="1050" spc="-20">
                <a:solidFill>
                  <a:srgbClr val="3C3D44"/>
                </a:solidFill>
                <a:latin typeface="Arial MT"/>
                <a:cs typeface="Arial MT"/>
              </a:rPr>
              <a:t> data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7971" y="1387779"/>
            <a:ext cx="2767965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3C3D44"/>
                </a:solidFill>
                <a:latin typeface="Arial MT"/>
                <a:cs typeface="Arial MT"/>
              </a:rPr>
              <a:t>7%</a:t>
            </a:r>
            <a:endParaRPr sz="3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Max</a:t>
            </a:r>
            <a:r>
              <a:rPr dirty="0" sz="13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3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C3D44"/>
                </a:solidFill>
                <a:latin typeface="Arial MT"/>
                <a:cs typeface="Arial MT"/>
              </a:rPr>
              <a:t>Cancels</a:t>
            </a:r>
            <a:endParaRPr sz="13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050" spc="-20">
                <a:solidFill>
                  <a:srgbClr val="3C3D44"/>
                </a:solidFill>
                <a:latin typeface="Arial MT"/>
                <a:cs typeface="Arial MT"/>
              </a:rPr>
              <a:t>Customer-</a:t>
            </a: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initiated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cancellations</a:t>
            </a:r>
            <a:r>
              <a:rPr dirty="0" sz="10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capped</a:t>
            </a:r>
            <a:r>
              <a:rPr dirty="0" sz="10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at</a:t>
            </a: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7%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2524" y="2822257"/>
            <a:ext cx="2619375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3C3D44"/>
                </a:solidFill>
                <a:latin typeface="Arial MT"/>
                <a:cs typeface="Arial MT"/>
              </a:rPr>
              <a:t>18%</a:t>
            </a:r>
            <a:endParaRPr sz="3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Max</a:t>
            </a:r>
            <a:r>
              <a:rPr dirty="0" sz="13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3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3C3D44"/>
                </a:solidFill>
                <a:latin typeface="Arial MT"/>
                <a:cs typeface="Arial MT"/>
              </a:rPr>
              <a:t>Cancels</a:t>
            </a:r>
            <a:endParaRPr sz="13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Driver-initiated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cancellations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capped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at</a:t>
            </a:r>
            <a:r>
              <a:rPr dirty="0" sz="1050" spc="-25">
                <a:solidFill>
                  <a:srgbClr val="3C3D44"/>
                </a:solidFill>
                <a:latin typeface="Arial MT"/>
                <a:cs typeface="Arial MT"/>
              </a:rPr>
              <a:t> 18%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370" y="2822257"/>
            <a:ext cx="2525395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500" spc="-25">
                <a:solidFill>
                  <a:srgbClr val="3C3D44"/>
                </a:solidFill>
                <a:latin typeface="Arial MT"/>
                <a:cs typeface="Arial MT"/>
              </a:rPr>
              <a:t>70%</a:t>
            </a:r>
            <a:endParaRPr sz="3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Orders</a:t>
            </a:r>
            <a:r>
              <a:rPr dirty="0" sz="13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3C3D44"/>
                </a:solidFill>
                <a:latin typeface="Arial MT"/>
                <a:cs typeface="Arial MT"/>
              </a:rPr>
              <a:t>Under</a:t>
            </a:r>
            <a:r>
              <a:rPr dirty="0" sz="13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3C3D44"/>
                </a:solidFill>
                <a:latin typeface="SimSun-ExtB"/>
                <a:cs typeface="SimSun-ExtB"/>
              </a:rPr>
              <a:t>₹</a:t>
            </a:r>
            <a:r>
              <a:rPr dirty="0" sz="1300" spc="-20">
                <a:solidFill>
                  <a:srgbClr val="3C3D44"/>
                </a:solidFill>
                <a:latin typeface="Arial MT"/>
                <a:cs typeface="Arial MT"/>
              </a:rPr>
              <a:t>500</a:t>
            </a:r>
            <a:endParaRPr sz="13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28%</a:t>
            </a:r>
            <a:r>
              <a:rPr dirty="0" sz="10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above</a:t>
            </a:r>
            <a:r>
              <a:rPr dirty="0" sz="10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114">
                <a:solidFill>
                  <a:srgbClr val="3C3D44"/>
                </a:solidFill>
                <a:latin typeface="SimSun-ExtB"/>
                <a:cs typeface="SimSun-ExtB"/>
              </a:rPr>
              <a:t>₹</a:t>
            </a:r>
            <a:r>
              <a:rPr dirty="0" sz="1050" spc="-114">
                <a:solidFill>
                  <a:srgbClr val="3C3D44"/>
                </a:solidFill>
                <a:latin typeface="Arial MT"/>
                <a:cs typeface="Arial MT"/>
              </a:rPr>
              <a:t>500,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3C3D44"/>
                </a:solidFill>
                <a:latin typeface="Arial MT"/>
                <a:cs typeface="Arial MT"/>
              </a:rPr>
              <a:t>remaining</a:t>
            </a:r>
            <a:r>
              <a:rPr dirty="0" sz="10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3C3D44"/>
                </a:solidFill>
                <a:latin typeface="Arial MT"/>
                <a:cs typeface="Arial MT"/>
              </a:rPr>
              <a:t>above</a:t>
            </a:r>
            <a:r>
              <a:rPr dirty="0" sz="10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50" spc="-30">
                <a:solidFill>
                  <a:srgbClr val="3C3D44"/>
                </a:solidFill>
                <a:latin typeface="SimSun-ExtB"/>
                <a:cs typeface="SimSun-ExtB"/>
              </a:rPr>
              <a:t>₹</a:t>
            </a:r>
            <a:r>
              <a:rPr dirty="0" sz="1050" spc="-30">
                <a:solidFill>
                  <a:srgbClr val="3C3D44"/>
                </a:solidFill>
                <a:latin typeface="Arial MT"/>
                <a:cs typeface="Arial MT"/>
              </a:rPr>
              <a:t>1,000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2901" y="4189361"/>
            <a:ext cx="8198484" cy="557530"/>
            <a:chOff x="472901" y="4189361"/>
            <a:chExt cx="8198484" cy="557530"/>
          </a:xfrm>
        </p:grpSpPr>
        <p:sp>
          <p:nvSpPr>
            <p:cNvPr id="9" name="object 9"/>
            <p:cNvSpPr/>
            <p:nvPr/>
          </p:nvSpPr>
          <p:spPr>
            <a:xfrm>
              <a:off x="472901" y="4189361"/>
              <a:ext cx="8198484" cy="557530"/>
            </a:xfrm>
            <a:custGeom>
              <a:avLst/>
              <a:gdLst/>
              <a:ahLst/>
              <a:cxnLst/>
              <a:rect l="l" t="t" r="r" b="b"/>
              <a:pathLst>
                <a:path w="8198484" h="557529">
                  <a:moveTo>
                    <a:pt x="8076590" y="0"/>
                  </a:moveTo>
                  <a:lnTo>
                    <a:pt x="121607" y="0"/>
                  </a:lnTo>
                  <a:lnTo>
                    <a:pt x="74462" y="9618"/>
                  </a:lnTo>
                  <a:lnTo>
                    <a:pt x="35786" y="35783"/>
                  </a:lnTo>
                  <a:lnTo>
                    <a:pt x="9619" y="74457"/>
                  </a:lnTo>
                  <a:lnTo>
                    <a:pt x="0" y="121602"/>
                  </a:lnTo>
                  <a:lnTo>
                    <a:pt x="0" y="435305"/>
                  </a:lnTo>
                  <a:lnTo>
                    <a:pt x="9619" y="482452"/>
                  </a:lnTo>
                  <a:lnTo>
                    <a:pt x="35786" y="521130"/>
                  </a:lnTo>
                  <a:lnTo>
                    <a:pt x="74462" y="547299"/>
                  </a:lnTo>
                  <a:lnTo>
                    <a:pt x="121607" y="556920"/>
                  </a:lnTo>
                  <a:lnTo>
                    <a:pt x="8076590" y="556920"/>
                  </a:lnTo>
                  <a:lnTo>
                    <a:pt x="8123735" y="547299"/>
                  </a:lnTo>
                  <a:lnTo>
                    <a:pt x="8162409" y="521130"/>
                  </a:lnTo>
                  <a:lnTo>
                    <a:pt x="8188574" y="482452"/>
                  </a:lnTo>
                  <a:lnTo>
                    <a:pt x="8198192" y="435305"/>
                  </a:lnTo>
                  <a:lnTo>
                    <a:pt x="8198192" y="121602"/>
                  </a:lnTo>
                  <a:lnTo>
                    <a:pt x="8188574" y="74457"/>
                  </a:lnTo>
                  <a:lnTo>
                    <a:pt x="8162409" y="35783"/>
                  </a:lnTo>
                  <a:lnTo>
                    <a:pt x="8123735" y="9618"/>
                  </a:lnTo>
                  <a:lnTo>
                    <a:pt x="8076590" y="0"/>
                  </a:lnTo>
                  <a:close/>
                </a:path>
              </a:pathLst>
            </a:custGeom>
            <a:solidFill>
              <a:srgbClr val="B6D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962" y="4392295"/>
              <a:ext cx="168845" cy="1350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99170" y="4336288"/>
            <a:ext cx="71297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Arial MT"/>
                <a:cs typeface="Arial MT"/>
              </a:rPr>
              <a:t>Weekend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match-</a:t>
            </a:r>
            <a:r>
              <a:rPr dirty="0" sz="1050">
                <a:latin typeface="Arial MT"/>
                <a:cs typeface="Arial MT"/>
              </a:rPr>
              <a:t>day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orders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have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higher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volume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booking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values.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Booking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IDs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follow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the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format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b="1">
                <a:latin typeface="Arial"/>
                <a:cs typeface="Arial"/>
              </a:rPr>
              <a:t>CNR</a:t>
            </a:r>
            <a:r>
              <a:rPr dirty="0" sz="1050" spc="-30" b="1">
                <a:latin typeface="Arial"/>
                <a:cs typeface="Arial"/>
              </a:rPr>
              <a:t> </a:t>
            </a:r>
            <a:r>
              <a:rPr dirty="0" sz="1050">
                <a:latin typeface="Arial MT"/>
                <a:cs typeface="Arial MT"/>
              </a:rPr>
              <a:t>+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10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digits.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10</a:t>
            </a:r>
            <a:r>
              <a:rPr dirty="0" spc="-15"/>
              <a:t> </a:t>
            </a:r>
            <a:r>
              <a:rPr dirty="0"/>
              <a:t>SQL</a:t>
            </a:r>
            <a:r>
              <a:rPr dirty="0" spc="-10"/>
              <a:t> 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909" y="992694"/>
            <a:ext cx="7108190" cy="367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Practice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queries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covering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filtering,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aggregation,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grouping,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ranking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on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OLA</a:t>
            </a:r>
            <a:r>
              <a:rPr dirty="0" sz="10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3C3D44"/>
                </a:solidFill>
                <a:latin typeface="Arial MT"/>
                <a:cs typeface="Arial MT"/>
              </a:rPr>
              <a:t>dataset.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192904" algn="l"/>
              </a:tabLst>
            </a:pP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01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02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4192904" algn="l"/>
              </a:tabLst>
            </a:pP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Retrieve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all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successful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bookings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	Average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distance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per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type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192904" algn="l"/>
              </a:tabLst>
            </a:pP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03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04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4192904" algn="l"/>
              </a:tabLst>
            </a:pP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Total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cancelled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by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customers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	Top</a:t>
            </a:r>
            <a:r>
              <a:rPr dirty="0" sz="125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5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customers</a:t>
            </a:r>
            <a:r>
              <a:rPr dirty="0" sz="12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by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number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of</a:t>
            </a:r>
            <a:r>
              <a:rPr dirty="0" sz="12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192904" algn="l"/>
              </a:tabLst>
            </a:pP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05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06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4192904" algn="l"/>
              </a:tabLst>
            </a:pP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cancellations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due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to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personal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&amp;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car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issues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	Max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&amp;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min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for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Prime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Sedan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192904" algn="l"/>
              </a:tabLst>
            </a:pP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07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08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4192904" algn="l"/>
              </a:tabLst>
            </a:pP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All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2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paid</a:t>
            </a:r>
            <a:r>
              <a:rPr dirty="0" sz="12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via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3C3D44"/>
                </a:solidFill>
                <a:latin typeface="Arial MT"/>
                <a:cs typeface="Arial MT"/>
              </a:rPr>
              <a:t>UPI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	Average</a:t>
            </a:r>
            <a:r>
              <a:rPr dirty="0" sz="1250" spc="-6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rating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per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25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3C3D44"/>
                </a:solidFill>
                <a:latin typeface="Arial MT"/>
                <a:cs typeface="Arial MT"/>
              </a:rPr>
              <a:t>type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192904" algn="l"/>
              </a:tabLst>
            </a:pP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09</a:t>
            </a:r>
            <a:r>
              <a:rPr dirty="0" sz="1000">
                <a:solidFill>
                  <a:srgbClr val="3C3D44"/>
                </a:solidFill>
                <a:latin typeface="Arial MT"/>
                <a:cs typeface="Arial MT"/>
              </a:rPr>
              <a:t>	</a:t>
            </a:r>
            <a:r>
              <a:rPr dirty="0" sz="1000" spc="-25">
                <a:solidFill>
                  <a:srgbClr val="3C3D44"/>
                </a:solidFill>
                <a:latin typeface="Arial MT"/>
                <a:cs typeface="Arial MT"/>
              </a:rPr>
              <a:t>10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4192904" algn="l"/>
              </a:tabLst>
            </a:pP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Total</a:t>
            </a:r>
            <a:r>
              <a:rPr dirty="0" sz="12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12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value</a:t>
            </a:r>
            <a:r>
              <a:rPr dirty="0" sz="12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of</a:t>
            </a:r>
            <a:r>
              <a:rPr dirty="0" sz="12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successful</a:t>
            </a:r>
            <a:r>
              <a:rPr dirty="0" sz="12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	All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incomplete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3C3D44"/>
                </a:solidFill>
                <a:latin typeface="Arial MT"/>
                <a:cs typeface="Arial MT"/>
              </a:rPr>
              <a:t>with</a:t>
            </a:r>
            <a:r>
              <a:rPr dirty="0" sz="12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3C3D44"/>
                </a:solidFill>
                <a:latin typeface="Arial MT"/>
                <a:cs typeface="Arial MT"/>
              </a:rPr>
              <a:t>reasons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/>
              <a:t>SQL</a:t>
            </a:r>
            <a:r>
              <a:rPr dirty="0" sz="2050" spc="-15"/>
              <a:t> </a:t>
            </a:r>
            <a:r>
              <a:rPr dirty="0" sz="2050"/>
              <a:t>Answers</a:t>
            </a:r>
            <a:r>
              <a:rPr dirty="0" sz="2050" spc="-10"/>
              <a:t> </a:t>
            </a:r>
            <a:r>
              <a:rPr dirty="0" sz="2050"/>
              <a:t>—</a:t>
            </a:r>
            <a:r>
              <a:rPr dirty="0" sz="2050" spc="-15"/>
              <a:t> </a:t>
            </a:r>
            <a:r>
              <a:rPr dirty="0" sz="2050"/>
              <a:t>Part</a:t>
            </a:r>
            <a:r>
              <a:rPr dirty="0" sz="2050" spc="-10"/>
              <a:t> </a:t>
            </a:r>
            <a:r>
              <a:rPr dirty="0" sz="2050" spc="-50"/>
              <a:t>1</a:t>
            </a:r>
            <a:endParaRPr sz="2050"/>
          </a:p>
        </p:txBody>
      </p:sp>
      <p:sp>
        <p:nvSpPr>
          <p:cNvPr id="3" name="object 3"/>
          <p:cNvSpPr txBox="1"/>
          <p:nvPr/>
        </p:nvSpPr>
        <p:spPr>
          <a:xfrm>
            <a:off x="891058" y="868944"/>
            <a:ext cx="1564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Q1</a:t>
            </a:r>
            <a:r>
              <a:rPr dirty="0" sz="10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Successful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Bookings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8474" y="1140104"/>
            <a:ext cx="3549650" cy="659130"/>
          </a:xfrm>
          <a:custGeom>
            <a:avLst/>
            <a:gdLst/>
            <a:ahLst/>
            <a:cxnLst/>
            <a:rect l="l" t="t" r="r" b="b"/>
            <a:pathLst>
              <a:path w="3549650" h="659130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77" y="0"/>
                </a:lnTo>
                <a:lnTo>
                  <a:pt x="718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651814"/>
                </a:lnTo>
                <a:lnTo>
                  <a:pt x="7188" y="659015"/>
                </a:lnTo>
                <a:lnTo>
                  <a:pt x="100977" y="659015"/>
                </a:lnTo>
                <a:lnTo>
                  <a:pt x="3448050" y="659015"/>
                </a:lnTo>
                <a:lnTo>
                  <a:pt x="3541826" y="659015"/>
                </a:lnTo>
                <a:lnTo>
                  <a:pt x="3549027" y="651814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8678" y="1231513"/>
            <a:ext cx="18827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 spc="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00" spc="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Successful_Bookings</a:t>
            </a:r>
            <a:r>
              <a:rPr dirty="0" sz="800" spc="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1378" y="1389006"/>
            <a:ext cx="1225550" cy="121920"/>
          </a:xfrm>
          <a:custGeom>
            <a:avLst/>
            <a:gdLst/>
            <a:ahLst/>
            <a:cxnLst/>
            <a:rect l="l" t="t" r="r" b="b"/>
            <a:pathLst>
              <a:path w="1225550" h="121919">
                <a:moveTo>
                  <a:pt x="1225229" y="0"/>
                </a:moveTo>
                <a:lnTo>
                  <a:pt x="0" y="0"/>
                </a:lnTo>
                <a:lnTo>
                  <a:pt x="0" y="121919"/>
                </a:lnTo>
                <a:lnTo>
                  <a:pt x="1225229" y="121919"/>
                </a:lnTo>
                <a:lnTo>
                  <a:pt x="122522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18678" y="1374160"/>
            <a:ext cx="12503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*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1378" y="1531653"/>
            <a:ext cx="1685289" cy="121920"/>
          </a:xfrm>
          <a:custGeom>
            <a:avLst/>
            <a:gdLst/>
            <a:ahLst/>
            <a:cxnLst/>
            <a:rect l="l" t="t" r="r" b="b"/>
            <a:pathLst>
              <a:path w="1685289" h="121919">
                <a:moveTo>
                  <a:pt x="1684845" y="0"/>
                </a:moveTo>
                <a:lnTo>
                  <a:pt x="0" y="0"/>
                </a:lnTo>
                <a:lnTo>
                  <a:pt x="0" y="121920"/>
                </a:lnTo>
                <a:lnTo>
                  <a:pt x="1684845" y="121920"/>
                </a:lnTo>
                <a:lnTo>
                  <a:pt x="168484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18678" y="1516806"/>
            <a:ext cx="17094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0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Booking_Status</a:t>
            </a:r>
            <a:r>
              <a:rPr dirty="0" sz="800" spc="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0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'Success';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1058" y="1873389"/>
            <a:ext cx="17621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Q2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Avg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Distance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by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 Vehicle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8474" y="2144534"/>
            <a:ext cx="3549650" cy="956944"/>
          </a:xfrm>
          <a:custGeom>
            <a:avLst/>
            <a:gdLst/>
            <a:ahLst/>
            <a:cxnLst/>
            <a:rect l="l" t="t" r="r" b="b"/>
            <a:pathLst>
              <a:path w="3549650" h="956944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77" y="0"/>
                </a:lnTo>
                <a:lnTo>
                  <a:pt x="718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949464"/>
                </a:lnTo>
                <a:lnTo>
                  <a:pt x="7188" y="956665"/>
                </a:lnTo>
                <a:lnTo>
                  <a:pt x="100977" y="956665"/>
                </a:lnTo>
                <a:lnTo>
                  <a:pt x="3448050" y="956665"/>
                </a:lnTo>
                <a:lnTo>
                  <a:pt x="3541826" y="956665"/>
                </a:lnTo>
                <a:lnTo>
                  <a:pt x="3549027" y="949464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18678" y="2235949"/>
            <a:ext cx="23450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 VIEW</a:t>
            </a:r>
            <a:r>
              <a:rPr dirty="0" sz="800" spc="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ride_distance_for_each_vehicle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31378" y="2393442"/>
            <a:ext cx="1067435" cy="121920"/>
          </a:xfrm>
          <a:custGeom>
            <a:avLst/>
            <a:gdLst/>
            <a:ahLst/>
            <a:cxnLst/>
            <a:rect l="l" t="t" r="r" b="b"/>
            <a:pathLst>
              <a:path w="1067435" h="121919">
                <a:moveTo>
                  <a:pt x="1067277" y="0"/>
                </a:moveTo>
                <a:lnTo>
                  <a:pt x="0" y="0"/>
                </a:lnTo>
                <a:lnTo>
                  <a:pt x="0" y="121919"/>
                </a:lnTo>
                <a:lnTo>
                  <a:pt x="1067277" y="121919"/>
                </a:lnTo>
                <a:lnTo>
                  <a:pt x="106727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18678" y="2378595"/>
            <a:ext cx="10915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-6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Vehicle_Type,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1378" y="2536088"/>
            <a:ext cx="1790700" cy="121920"/>
          </a:xfrm>
          <a:custGeom>
            <a:avLst/>
            <a:gdLst/>
            <a:ahLst/>
            <a:cxnLst/>
            <a:rect l="l" t="t" r="r" b="b"/>
            <a:pathLst>
              <a:path w="1790700" h="121919">
                <a:moveTo>
                  <a:pt x="1790128" y="0"/>
                </a:moveTo>
                <a:lnTo>
                  <a:pt x="0" y="0"/>
                </a:lnTo>
                <a:lnTo>
                  <a:pt x="0" y="121920"/>
                </a:lnTo>
                <a:lnTo>
                  <a:pt x="1790128" y="121920"/>
                </a:lnTo>
                <a:lnTo>
                  <a:pt x="17901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75130" y="2521242"/>
            <a:ext cx="17589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AVG(Ride_Distance)</a:t>
            </a:r>
            <a:r>
              <a:rPr dirty="0" sz="800" spc="4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00" spc="4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avg_distance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31378" y="2678734"/>
            <a:ext cx="734060" cy="121920"/>
          </a:xfrm>
          <a:custGeom>
            <a:avLst/>
            <a:gdLst/>
            <a:ahLst/>
            <a:cxnLst/>
            <a:rect l="l" t="t" r="r" b="b"/>
            <a:pathLst>
              <a:path w="734060" h="121919">
                <a:moveTo>
                  <a:pt x="734007" y="0"/>
                </a:moveTo>
                <a:lnTo>
                  <a:pt x="0" y="0"/>
                </a:lnTo>
                <a:lnTo>
                  <a:pt x="0" y="121919"/>
                </a:lnTo>
                <a:lnTo>
                  <a:pt x="734007" y="121919"/>
                </a:lnTo>
                <a:lnTo>
                  <a:pt x="73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18678" y="2663888"/>
            <a:ext cx="7594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1378" y="2821381"/>
            <a:ext cx="1208405" cy="121920"/>
          </a:xfrm>
          <a:custGeom>
            <a:avLst/>
            <a:gdLst/>
            <a:ahLst/>
            <a:cxnLst/>
            <a:rect l="l" t="t" r="r" b="b"/>
            <a:pathLst>
              <a:path w="1208405" h="121919">
                <a:moveTo>
                  <a:pt x="1208364" y="0"/>
                </a:moveTo>
                <a:lnTo>
                  <a:pt x="0" y="0"/>
                </a:lnTo>
                <a:lnTo>
                  <a:pt x="0" y="121920"/>
                </a:lnTo>
                <a:lnTo>
                  <a:pt x="1208364" y="121920"/>
                </a:lnTo>
                <a:lnTo>
                  <a:pt x="120836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18678" y="2806534"/>
            <a:ext cx="12325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GROUP</a:t>
            </a:r>
            <a:r>
              <a:rPr dirty="0" sz="800" spc="-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BY</a:t>
            </a:r>
            <a:r>
              <a:rPr dirty="0" sz="800" spc="-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Vehicle_Type;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1058" y="3175482"/>
            <a:ext cx="17411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Q3</a:t>
            </a:r>
            <a:r>
              <a:rPr dirty="0" sz="1000" spc="-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 Customer 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Cancellations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8474" y="3446640"/>
            <a:ext cx="3549650" cy="659130"/>
          </a:xfrm>
          <a:custGeom>
            <a:avLst/>
            <a:gdLst/>
            <a:ahLst/>
            <a:cxnLst/>
            <a:rect l="l" t="t" r="r" b="b"/>
            <a:pathLst>
              <a:path w="3549650" h="659129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77" y="0"/>
                </a:lnTo>
                <a:lnTo>
                  <a:pt x="718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651814"/>
                </a:lnTo>
                <a:lnTo>
                  <a:pt x="7188" y="659015"/>
                </a:lnTo>
                <a:lnTo>
                  <a:pt x="100977" y="659015"/>
                </a:lnTo>
                <a:lnTo>
                  <a:pt x="3448050" y="659015"/>
                </a:lnTo>
                <a:lnTo>
                  <a:pt x="3541826" y="659015"/>
                </a:lnTo>
                <a:lnTo>
                  <a:pt x="3549027" y="651814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18678" y="3538054"/>
            <a:ext cx="23114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 spc="4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00" spc="4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cancelled_rides_by_customers</a:t>
            </a:r>
            <a:r>
              <a:rPr dirty="0" sz="800" spc="4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31378" y="3695547"/>
            <a:ext cx="1654175" cy="121920"/>
          </a:xfrm>
          <a:custGeom>
            <a:avLst/>
            <a:gdLst/>
            <a:ahLst/>
            <a:cxnLst/>
            <a:rect l="l" t="t" r="r" b="b"/>
            <a:pathLst>
              <a:path w="1654175" h="121920">
                <a:moveTo>
                  <a:pt x="1654098" y="0"/>
                </a:moveTo>
                <a:lnTo>
                  <a:pt x="0" y="0"/>
                </a:lnTo>
                <a:lnTo>
                  <a:pt x="0" y="121919"/>
                </a:lnTo>
                <a:lnTo>
                  <a:pt x="1654098" y="121919"/>
                </a:lnTo>
                <a:lnTo>
                  <a:pt x="165409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018678" y="3680701"/>
            <a:ext cx="16795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COUNT(*)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1378" y="3838194"/>
            <a:ext cx="2334895" cy="121920"/>
          </a:xfrm>
          <a:custGeom>
            <a:avLst/>
            <a:gdLst/>
            <a:ahLst/>
            <a:cxnLst/>
            <a:rect l="l" t="t" r="r" b="b"/>
            <a:pathLst>
              <a:path w="2334895" h="121920">
                <a:moveTo>
                  <a:pt x="2334272" y="0"/>
                </a:moveTo>
                <a:lnTo>
                  <a:pt x="0" y="0"/>
                </a:lnTo>
                <a:lnTo>
                  <a:pt x="0" y="121920"/>
                </a:lnTo>
                <a:lnTo>
                  <a:pt x="2334272" y="121920"/>
                </a:lnTo>
                <a:lnTo>
                  <a:pt x="23342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18678" y="3823347"/>
            <a:ext cx="23583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Booking_Status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'cancelled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by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Customer';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93691" y="868944"/>
            <a:ext cx="136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Q4</a:t>
            </a:r>
            <a:r>
              <a:rPr dirty="0" sz="1000" spc="-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 Top</a:t>
            </a:r>
            <a:r>
              <a:rPr dirty="0" sz="1000" spc="-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5 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Customers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701108" y="1140104"/>
            <a:ext cx="3549650" cy="1105535"/>
          </a:xfrm>
          <a:custGeom>
            <a:avLst/>
            <a:gdLst/>
            <a:ahLst/>
            <a:cxnLst/>
            <a:rect l="l" t="t" r="r" b="b"/>
            <a:pathLst>
              <a:path w="3549650" h="1105535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65" y="0"/>
                </a:lnTo>
                <a:lnTo>
                  <a:pt x="7200" y="0"/>
                </a:lnTo>
                <a:lnTo>
                  <a:pt x="0" y="7200"/>
                </a:lnTo>
                <a:lnTo>
                  <a:pt x="0" y="15951"/>
                </a:lnTo>
                <a:lnTo>
                  <a:pt x="0" y="1098296"/>
                </a:lnTo>
                <a:lnTo>
                  <a:pt x="7200" y="1105496"/>
                </a:lnTo>
                <a:lnTo>
                  <a:pt x="100965" y="1105496"/>
                </a:lnTo>
                <a:lnTo>
                  <a:pt x="3448050" y="1105496"/>
                </a:lnTo>
                <a:lnTo>
                  <a:pt x="3541826" y="1105496"/>
                </a:lnTo>
                <a:lnTo>
                  <a:pt x="3549027" y="1098296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21313" y="1231513"/>
            <a:ext cx="17526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Top_5_Customers</a:t>
            </a:r>
            <a:r>
              <a:rPr dirty="0" sz="80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834013" y="1389006"/>
            <a:ext cx="1050290" cy="121920"/>
          </a:xfrm>
          <a:custGeom>
            <a:avLst/>
            <a:gdLst/>
            <a:ahLst/>
            <a:cxnLst/>
            <a:rect l="l" t="t" r="r" b="b"/>
            <a:pathLst>
              <a:path w="1050289" h="121919">
                <a:moveTo>
                  <a:pt x="1050163" y="0"/>
                </a:moveTo>
                <a:lnTo>
                  <a:pt x="0" y="0"/>
                </a:lnTo>
                <a:lnTo>
                  <a:pt x="0" y="121919"/>
                </a:lnTo>
                <a:lnTo>
                  <a:pt x="1050163" y="121919"/>
                </a:lnTo>
                <a:lnTo>
                  <a:pt x="105016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821313" y="1374160"/>
            <a:ext cx="10744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-6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Customer_ID,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834013" y="1531653"/>
            <a:ext cx="1671320" cy="121920"/>
          </a:xfrm>
          <a:custGeom>
            <a:avLst/>
            <a:gdLst/>
            <a:ahLst/>
            <a:cxnLst/>
            <a:rect l="l" t="t" r="r" b="b"/>
            <a:pathLst>
              <a:path w="1671320" h="121919">
                <a:moveTo>
                  <a:pt x="1671307" y="0"/>
                </a:moveTo>
                <a:lnTo>
                  <a:pt x="0" y="0"/>
                </a:lnTo>
                <a:lnTo>
                  <a:pt x="0" y="121920"/>
                </a:lnTo>
                <a:lnTo>
                  <a:pt x="1671307" y="121920"/>
                </a:lnTo>
                <a:lnTo>
                  <a:pt x="16713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77765" y="1516806"/>
            <a:ext cx="16402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COUNT(Booking_ID)</a:t>
            </a:r>
            <a:r>
              <a:rPr dirty="0" sz="800" spc="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00" spc="4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total_rides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34013" y="1674299"/>
            <a:ext cx="734060" cy="121920"/>
          </a:xfrm>
          <a:custGeom>
            <a:avLst/>
            <a:gdLst/>
            <a:ahLst/>
            <a:cxnLst/>
            <a:rect l="l" t="t" r="r" b="b"/>
            <a:pathLst>
              <a:path w="734060" h="121919">
                <a:moveTo>
                  <a:pt x="734007" y="0"/>
                </a:moveTo>
                <a:lnTo>
                  <a:pt x="0" y="0"/>
                </a:lnTo>
                <a:lnTo>
                  <a:pt x="0" y="121919"/>
                </a:lnTo>
                <a:lnTo>
                  <a:pt x="734007" y="121919"/>
                </a:lnTo>
                <a:lnTo>
                  <a:pt x="7340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821313" y="1659452"/>
            <a:ext cx="7594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834013" y="1816945"/>
            <a:ext cx="1163320" cy="121920"/>
          </a:xfrm>
          <a:custGeom>
            <a:avLst/>
            <a:gdLst/>
            <a:ahLst/>
            <a:cxnLst/>
            <a:rect l="l" t="t" r="r" b="b"/>
            <a:pathLst>
              <a:path w="1163320" h="121919">
                <a:moveTo>
                  <a:pt x="1163024" y="0"/>
                </a:moveTo>
                <a:lnTo>
                  <a:pt x="0" y="0"/>
                </a:lnTo>
                <a:lnTo>
                  <a:pt x="0" y="121920"/>
                </a:lnTo>
                <a:lnTo>
                  <a:pt x="1163024" y="121920"/>
                </a:lnTo>
                <a:lnTo>
                  <a:pt x="116302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21313" y="1802099"/>
            <a:ext cx="11880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GROUP</a:t>
            </a:r>
            <a:r>
              <a:rPr dirty="0" sz="800" spc="-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BY</a:t>
            </a:r>
            <a:r>
              <a:rPr dirty="0" sz="800" spc="-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Customer_ID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834013" y="1959592"/>
            <a:ext cx="1739264" cy="121920"/>
          </a:xfrm>
          <a:custGeom>
            <a:avLst/>
            <a:gdLst/>
            <a:ahLst/>
            <a:cxnLst/>
            <a:rect l="l" t="t" r="r" b="b"/>
            <a:pathLst>
              <a:path w="1739265" h="121919">
                <a:moveTo>
                  <a:pt x="1738972" y="0"/>
                </a:moveTo>
                <a:lnTo>
                  <a:pt x="0" y="0"/>
                </a:lnTo>
                <a:lnTo>
                  <a:pt x="0" y="121919"/>
                </a:lnTo>
                <a:lnTo>
                  <a:pt x="1738972" y="121919"/>
                </a:lnTo>
                <a:lnTo>
                  <a:pt x="17389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821313" y="1944745"/>
            <a:ext cx="17640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ORDER</a:t>
            </a:r>
            <a:r>
              <a:rPr dirty="0" sz="800" spc="-3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BY</a:t>
            </a:r>
            <a:r>
              <a:rPr dirty="0" sz="80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total_rides</a:t>
            </a:r>
            <a:r>
              <a:rPr dirty="0" sz="80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DESC</a:t>
            </a:r>
            <a:r>
              <a:rPr dirty="0" sz="80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LIMIT</a:t>
            </a:r>
            <a:r>
              <a:rPr dirty="0" sz="80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5;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93691" y="2319870"/>
            <a:ext cx="16986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Q5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Driver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Cancel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Reasons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01108" y="2591028"/>
            <a:ext cx="3549650" cy="808355"/>
          </a:xfrm>
          <a:custGeom>
            <a:avLst/>
            <a:gdLst/>
            <a:ahLst/>
            <a:cxnLst/>
            <a:rect l="l" t="t" r="r" b="b"/>
            <a:pathLst>
              <a:path w="3549650" h="808354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77" y="0"/>
                </a:lnTo>
                <a:lnTo>
                  <a:pt x="718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800646"/>
                </a:lnTo>
                <a:lnTo>
                  <a:pt x="7188" y="807834"/>
                </a:lnTo>
                <a:lnTo>
                  <a:pt x="100977" y="807834"/>
                </a:lnTo>
                <a:lnTo>
                  <a:pt x="3448050" y="807834"/>
                </a:lnTo>
                <a:lnTo>
                  <a:pt x="3541826" y="807834"/>
                </a:lnTo>
                <a:lnTo>
                  <a:pt x="3549027" y="800646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821313" y="2682443"/>
            <a:ext cx="28086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 spc="6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00" spc="6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Rides_cancelled_by_Drivers_P_C_Issues</a:t>
            </a:r>
            <a:r>
              <a:rPr dirty="0" sz="800" spc="6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834013" y="2839935"/>
            <a:ext cx="1654175" cy="121920"/>
          </a:xfrm>
          <a:custGeom>
            <a:avLst/>
            <a:gdLst/>
            <a:ahLst/>
            <a:cxnLst/>
            <a:rect l="l" t="t" r="r" b="b"/>
            <a:pathLst>
              <a:path w="1654175" h="121919">
                <a:moveTo>
                  <a:pt x="1654098" y="0"/>
                </a:moveTo>
                <a:lnTo>
                  <a:pt x="0" y="0"/>
                </a:lnTo>
                <a:lnTo>
                  <a:pt x="0" y="121919"/>
                </a:lnTo>
                <a:lnTo>
                  <a:pt x="1654098" y="121919"/>
                </a:lnTo>
                <a:lnTo>
                  <a:pt x="165409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821313" y="2825089"/>
            <a:ext cx="16795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COUNT(*)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834013" y="2982582"/>
            <a:ext cx="1643380" cy="121920"/>
          </a:xfrm>
          <a:custGeom>
            <a:avLst/>
            <a:gdLst/>
            <a:ahLst/>
            <a:cxnLst/>
            <a:rect l="l" t="t" r="r" b="b"/>
            <a:pathLst>
              <a:path w="1643379" h="121919">
                <a:moveTo>
                  <a:pt x="1643138" y="0"/>
                </a:moveTo>
                <a:lnTo>
                  <a:pt x="0" y="0"/>
                </a:lnTo>
                <a:lnTo>
                  <a:pt x="0" y="121920"/>
                </a:lnTo>
                <a:lnTo>
                  <a:pt x="1643138" y="121920"/>
                </a:lnTo>
                <a:lnTo>
                  <a:pt x="164313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821313" y="2967735"/>
            <a:ext cx="16681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0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cancelled_Rides_by_Driver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834013" y="3125228"/>
            <a:ext cx="1504315" cy="121920"/>
          </a:xfrm>
          <a:custGeom>
            <a:avLst/>
            <a:gdLst/>
            <a:ahLst/>
            <a:cxnLst/>
            <a:rect l="l" t="t" r="r" b="b"/>
            <a:pathLst>
              <a:path w="1504314" h="121919">
                <a:moveTo>
                  <a:pt x="1504226" y="0"/>
                </a:moveTo>
                <a:lnTo>
                  <a:pt x="0" y="0"/>
                </a:lnTo>
                <a:lnTo>
                  <a:pt x="0" y="121919"/>
                </a:lnTo>
                <a:lnTo>
                  <a:pt x="1504226" y="121919"/>
                </a:lnTo>
                <a:lnTo>
                  <a:pt x="1504226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877765" y="3110382"/>
            <a:ext cx="14725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 'Personal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&amp;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Car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related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issue';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93691" y="3473132"/>
            <a:ext cx="21920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Q6</a:t>
            </a:r>
            <a:r>
              <a:rPr dirty="0" sz="10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0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Max/Min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Ratings</a:t>
            </a:r>
            <a:r>
              <a:rPr dirty="0" sz="10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74767C"/>
                </a:solidFill>
                <a:latin typeface="Arial MT"/>
                <a:cs typeface="Arial MT"/>
              </a:rPr>
              <a:t>(Prime</a:t>
            </a:r>
            <a:r>
              <a:rPr dirty="0" sz="10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74767C"/>
                </a:solidFill>
                <a:latin typeface="Arial MT"/>
                <a:cs typeface="Arial MT"/>
              </a:rPr>
              <a:t>Sedan)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701108" y="3744290"/>
            <a:ext cx="3549650" cy="956944"/>
          </a:xfrm>
          <a:custGeom>
            <a:avLst/>
            <a:gdLst/>
            <a:ahLst/>
            <a:cxnLst/>
            <a:rect l="l" t="t" r="r" b="b"/>
            <a:pathLst>
              <a:path w="3549650" h="956945">
                <a:moveTo>
                  <a:pt x="3549027" y="7200"/>
                </a:moveTo>
                <a:lnTo>
                  <a:pt x="3541826" y="0"/>
                </a:lnTo>
                <a:lnTo>
                  <a:pt x="3448050" y="0"/>
                </a:lnTo>
                <a:lnTo>
                  <a:pt x="100977" y="0"/>
                </a:lnTo>
                <a:lnTo>
                  <a:pt x="7188" y="0"/>
                </a:lnTo>
                <a:lnTo>
                  <a:pt x="0" y="7200"/>
                </a:lnTo>
                <a:lnTo>
                  <a:pt x="0" y="15951"/>
                </a:lnTo>
                <a:lnTo>
                  <a:pt x="0" y="949464"/>
                </a:lnTo>
                <a:lnTo>
                  <a:pt x="7188" y="956665"/>
                </a:lnTo>
                <a:lnTo>
                  <a:pt x="100977" y="956665"/>
                </a:lnTo>
                <a:lnTo>
                  <a:pt x="3448050" y="956665"/>
                </a:lnTo>
                <a:lnTo>
                  <a:pt x="3541826" y="956665"/>
                </a:lnTo>
                <a:lnTo>
                  <a:pt x="3549027" y="949464"/>
                </a:lnTo>
                <a:lnTo>
                  <a:pt x="3549027" y="72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821313" y="3835704"/>
            <a:ext cx="200596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Max_Min_Driver_Rating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834013" y="3993197"/>
            <a:ext cx="2106295" cy="549910"/>
          </a:xfrm>
          <a:custGeom>
            <a:avLst/>
            <a:gdLst/>
            <a:ahLst/>
            <a:cxnLst/>
            <a:rect l="l" t="t" r="r" b="b"/>
            <a:pathLst>
              <a:path w="2106295" h="549910">
                <a:moveTo>
                  <a:pt x="733996" y="285292"/>
                </a:moveTo>
                <a:lnTo>
                  <a:pt x="0" y="285292"/>
                </a:lnTo>
                <a:lnTo>
                  <a:pt x="0" y="407212"/>
                </a:lnTo>
                <a:lnTo>
                  <a:pt x="733996" y="407212"/>
                </a:lnTo>
                <a:lnTo>
                  <a:pt x="733996" y="285292"/>
                </a:lnTo>
                <a:close/>
              </a:path>
              <a:path w="2106295" h="549910">
                <a:moveTo>
                  <a:pt x="1620354" y="142646"/>
                </a:moveTo>
                <a:lnTo>
                  <a:pt x="0" y="142646"/>
                </a:lnTo>
                <a:lnTo>
                  <a:pt x="0" y="264566"/>
                </a:lnTo>
                <a:lnTo>
                  <a:pt x="1620354" y="264566"/>
                </a:lnTo>
                <a:lnTo>
                  <a:pt x="1620354" y="142646"/>
                </a:lnTo>
                <a:close/>
              </a:path>
              <a:path w="2106295" h="549910">
                <a:moveTo>
                  <a:pt x="1792109" y="427939"/>
                </a:moveTo>
                <a:lnTo>
                  <a:pt x="0" y="427939"/>
                </a:lnTo>
                <a:lnTo>
                  <a:pt x="0" y="549859"/>
                </a:lnTo>
                <a:lnTo>
                  <a:pt x="1792109" y="549859"/>
                </a:lnTo>
                <a:lnTo>
                  <a:pt x="1792109" y="427939"/>
                </a:lnTo>
                <a:close/>
              </a:path>
              <a:path w="2106295" h="549910">
                <a:moveTo>
                  <a:pt x="2105977" y="0"/>
                </a:moveTo>
                <a:lnTo>
                  <a:pt x="0" y="0"/>
                </a:lnTo>
                <a:lnTo>
                  <a:pt x="0" y="121920"/>
                </a:lnTo>
                <a:lnTo>
                  <a:pt x="2105977" y="121920"/>
                </a:lnTo>
                <a:lnTo>
                  <a:pt x="210597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4821313" y="3957624"/>
            <a:ext cx="2130425" cy="59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 marR="5080" indent="-28575">
              <a:lnSpc>
                <a:spcPct val="117000"/>
              </a:lnSpc>
              <a:spcBef>
                <a:spcPts val="10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00" spc="1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MAX(Driver_Ratings)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0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max_rating,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MIN(Driver_Ratings)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 min_rating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FROM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 Vehicle_Type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D63948"/>
                </a:solidFill>
                <a:latin typeface="Arial MT"/>
                <a:cs typeface="Arial MT"/>
              </a:rPr>
              <a:t>'Prime</a:t>
            </a:r>
            <a:r>
              <a:rPr dirty="0" sz="80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D63948"/>
                </a:solidFill>
                <a:latin typeface="Arial MT"/>
                <a:cs typeface="Arial MT"/>
              </a:rPr>
              <a:t>Sedan';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1789" y="301523"/>
            <a:ext cx="291338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SQL</a:t>
            </a:r>
            <a:r>
              <a:rPr dirty="0" sz="2200" spc="-35"/>
              <a:t> </a:t>
            </a:r>
            <a:r>
              <a:rPr dirty="0" sz="2200"/>
              <a:t>Answers</a:t>
            </a:r>
            <a:r>
              <a:rPr dirty="0" sz="2200" spc="-35"/>
              <a:t> </a:t>
            </a:r>
            <a:r>
              <a:rPr dirty="0" sz="2200"/>
              <a:t>—</a:t>
            </a:r>
            <a:r>
              <a:rPr dirty="0" sz="2200" spc="-35"/>
              <a:t> </a:t>
            </a:r>
            <a:r>
              <a:rPr dirty="0" sz="2200"/>
              <a:t>Part</a:t>
            </a:r>
            <a:r>
              <a:rPr dirty="0" sz="2200" spc="-30"/>
              <a:t> </a:t>
            </a:r>
            <a:r>
              <a:rPr dirty="0" sz="2200" spc="-50"/>
              <a:t>2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668896" y="1175753"/>
            <a:ext cx="3771265" cy="713105"/>
          </a:xfrm>
          <a:custGeom>
            <a:avLst/>
            <a:gdLst/>
            <a:ahLst/>
            <a:cxnLst/>
            <a:rect l="l" t="t" r="r" b="b"/>
            <a:pathLst>
              <a:path w="3771265" h="713105">
                <a:moveTo>
                  <a:pt x="3770782" y="7645"/>
                </a:moveTo>
                <a:lnTo>
                  <a:pt x="3763137" y="0"/>
                </a:lnTo>
                <a:lnTo>
                  <a:pt x="3663543" y="0"/>
                </a:lnTo>
                <a:lnTo>
                  <a:pt x="107264" y="0"/>
                </a:lnTo>
                <a:lnTo>
                  <a:pt x="7658" y="0"/>
                </a:lnTo>
                <a:lnTo>
                  <a:pt x="0" y="7645"/>
                </a:lnTo>
                <a:lnTo>
                  <a:pt x="0" y="16954"/>
                </a:lnTo>
                <a:lnTo>
                  <a:pt x="0" y="705383"/>
                </a:lnTo>
                <a:lnTo>
                  <a:pt x="7658" y="713041"/>
                </a:lnTo>
                <a:lnTo>
                  <a:pt x="107264" y="713041"/>
                </a:lnTo>
                <a:lnTo>
                  <a:pt x="3663543" y="713041"/>
                </a:lnTo>
                <a:lnTo>
                  <a:pt x="3763137" y="713041"/>
                </a:lnTo>
                <a:lnTo>
                  <a:pt x="3770782" y="705383"/>
                </a:lnTo>
                <a:lnTo>
                  <a:pt x="3770782" y="764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68896" y="2267699"/>
            <a:ext cx="3771265" cy="1038225"/>
          </a:xfrm>
          <a:custGeom>
            <a:avLst/>
            <a:gdLst/>
            <a:ahLst/>
            <a:cxnLst/>
            <a:rect l="l" t="t" r="r" b="b"/>
            <a:pathLst>
              <a:path w="3771265" h="1038225">
                <a:moveTo>
                  <a:pt x="3770782" y="7645"/>
                </a:moveTo>
                <a:lnTo>
                  <a:pt x="3763137" y="0"/>
                </a:lnTo>
                <a:lnTo>
                  <a:pt x="3663543" y="0"/>
                </a:lnTo>
                <a:lnTo>
                  <a:pt x="107264" y="0"/>
                </a:lnTo>
                <a:lnTo>
                  <a:pt x="7658" y="0"/>
                </a:lnTo>
                <a:lnTo>
                  <a:pt x="0" y="7645"/>
                </a:lnTo>
                <a:lnTo>
                  <a:pt x="0" y="16941"/>
                </a:lnTo>
                <a:lnTo>
                  <a:pt x="0" y="1030135"/>
                </a:lnTo>
                <a:lnTo>
                  <a:pt x="7658" y="1037780"/>
                </a:lnTo>
                <a:lnTo>
                  <a:pt x="107264" y="1037780"/>
                </a:lnTo>
                <a:lnTo>
                  <a:pt x="3663543" y="1037780"/>
                </a:lnTo>
                <a:lnTo>
                  <a:pt x="3763137" y="1037780"/>
                </a:lnTo>
                <a:lnTo>
                  <a:pt x="3770782" y="1030135"/>
                </a:lnTo>
                <a:lnTo>
                  <a:pt x="3770782" y="764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8896" y="3684384"/>
            <a:ext cx="3771265" cy="1038225"/>
          </a:xfrm>
          <a:custGeom>
            <a:avLst/>
            <a:gdLst/>
            <a:ahLst/>
            <a:cxnLst/>
            <a:rect l="l" t="t" r="r" b="b"/>
            <a:pathLst>
              <a:path w="3771265" h="1038225">
                <a:moveTo>
                  <a:pt x="3770782" y="7645"/>
                </a:moveTo>
                <a:lnTo>
                  <a:pt x="3763137" y="0"/>
                </a:lnTo>
                <a:lnTo>
                  <a:pt x="3663543" y="0"/>
                </a:lnTo>
                <a:lnTo>
                  <a:pt x="107264" y="0"/>
                </a:lnTo>
                <a:lnTo>
                  <a:pt x="7658" y="0"/>
                </a:lnTo>
                <a:lnTo>
                  <a:pt x="0" y="7645"/>
                </a:lnTo>
                <a:lnTo>
                  <a:pt x="0" y="16941"/>
                </a:lnTo>
                <a:lnTo>
                  <a:pt x="0" y="1030135"/>
                </a:lnTo>
                <a:lnTo>
                  <a:pt x="7658" y="1037780"/>
                </a:lnTo>
                <a:lnTo>
                  <a:pt x="107264" y="1037780"/>
                </a:lnTo>
                <a:lnTo>
                  <a:pt x="3663543" y="1037780"/>
                </a:lnTo>
                <a:lnTo>
                  <a:pt x="3763137" y="1037780"/>
                </a:lnTo>
                <a:lnTo>
                  <a:pt x="3770782" y="1030135"/>
                </a:lnTo>
                <a:lnTo>
                  <a:pt x="3770782" y="764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61789" y="882369"/>
            <a:ext cx="2573020" cy="3677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Q7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100" spc="-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UPI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 Payments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Arial MT"/>
              <a:cs typeface="Arial MT"/>
            </a:endParaRPr>
          </a:p>
          <a:p>
            <a:pPr marL="147955" marR="765175">
              <a:lnSpc>
                <a:spcPct val="12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50" spc="-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UPI_Payment 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AS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50" spc="-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*</a:t>
            </a:r>
            <a:r>
              <a:rPr dirty="0" sz="850" spc="-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50" spc="-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bookings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Payment_Method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'UPI';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Q8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Avg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Customer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Rating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by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Vehicle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Arial MT"/>
              <a:cs typeface="Arial MT"/>
            </a:endParaRPr>
          </a:p>
          <a:p>
            <a:pPr marL="147955" marR="588010">
              <a:lnSpc>
                <a:spcPct val="12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AVG_Cust_Rating 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AS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Vehicle_Type,</a:t>
            </a:r>
            <a:endParaRPr sz="850">
              <a:latin typeface="Arial MT"/>
              <a:cs typeface="Arial MT"/>
            </a:endParaRPr>
          </a:p>
          <a:p>
            <a:pPr marL="147955" marR="5080" indent="59690">
              <a:lnSpc>
                <a:spcPct val="120000"/>
              </a:lnSpc>
            </a:pP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AVG(Customer_Rating)</a:t>
            </a:r>
            <a:r>
              <a:rPr dirty="0" sz="850" spc="5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50" spc="5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avg_customer_rating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5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5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  <a:spcBef>
                <a:spcPts val="204"/>
              </a:spcBef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GROUP</a:t>
            </a:r>
            <a:r>
              <a:rPr dirty="0" sz="850" spc="-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BY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Vehicle_Type;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Q9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Total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Successful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Ride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Value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Arial MT"/>
              <a:cs typeface="Arial MT"/>
            </a:endParaRPr>
          </a:p>
          <a:p>
            <a:pPr marL="147955" marR="143510">
              <a:lnSpc>
                <a:spcPct val="12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VIEW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total_successful_ride_value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AS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SUM(Booking_Value)</a:t>
            </a:r>
            <a:endParaRPr sz="850">
              <a:latin typeface="Arial MT"/>
              <a:cs typeface="Arial MT"/>
            </a:endParaRPr>
          </a:p>
          <a:p>
            <a:pPr marL="147955" marR="856615" indent="59690">
              <a:lnSpc>
                <a:spcPct val="12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AS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total_successful_ride_value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5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5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  <a:spcBef>
                <a:spcPts val="204"/>
              </a:spcBef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50" spc="1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Booking_Status</a:t>
            </a:r>
            <a:r>
              <a:rPr dirty="0" sz="85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5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'Success';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8918" y="1175753"/>
            <a:ext cx="3771265" cy="875665"/>
          </a:xfrm>
          <a:custGeom>
            <a:avLst/>
            <a:gdLst/>
            <a:ahLst/>
            <a:cxnLst/>
            <a:rect l="l" t="t" r="r" b="b"/>
            <a:pathLst>
              <a:path w="3771265" h="875664">
                <a:moveTo>
                  <a:pt x="3770782" y="7645"/>
                </a:moveTo>
                <a:lnTo>
                  <a:pt x="3763137" y="0"/>
                </a:lnTo>
                <a:lnTo>
                  <a:pt x="3663543" y="0"/>
                </a:lnTo>
                <a:lnTo>
                  <a:pt x="107251" y="0"/>
                </a:lnTo>
                <a:lnTo>
                  <a:pt x="7645" y="0"/>
                </a:lnTo>
                <a:lnTo>
                  <a:pt x="0" y="7645"/>
                </a:lnTo>
                <a:lnTo>
                  <a:pt x="0" y="16941"/>
                </a:lnTo>
                <a:lnTo>
                  <a:pt x="0" y="867752"/>
                </a:lnTo>
                <a:lnTo>
                  <a:pt x="7645" y="875411"/>
                </a:lnTo>
                <a:lnTo>
                  <a:pt x="107251" y="875411"/>
                </a:lnTo>
                <a:lnTo>
                  <a:pt x="3663543" y="875411"/>
                </a:lnTo>
                <a:lnTo>
                  <a:pt x="3763137" y="875411"/>
                </a:lnTo>
                <a:lnTo>
                  <a:pt x="3770782" y="867752"/>
                </a:lnTo>
                <a:lnTo>
                  <a:pt x="3770782" y="764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37379" y="1584617"/>
            <a:ext cx="80581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FROM</a:t>
            </a:r>
            <a:r>
              <a:rPr dirty="0" sz="850" spc="-3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bookings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50079" y="1755051"/>
            <a:ext cx="1676400" cy="129539"/>
          </a:xfrm>
          <a:custGeom>
            <a:avLst/>
            <a:gdLst/>
            <a:ahLst/>
            <a:cxnLst/>
            <a:rect l="l" t="t" r="r" b="b"/>
            <a:pathLst>
              <a:path w="1676400" h="129539">
                <a:moveTo>
                  <a:pt x="1676082" y="0"/>
                </a:moveTo>
                <a:lnTo>
                  <a:pt x="0" y="0"/>
                </a:lnTo>
                <a:lnTo>
                  <a:pt x="0" y="129539"/>
                </a:lnTo>
                <a:lnTo>
                  <a:pt x="1676082" y="129539"/>
                </a:lnTo>
                <a:lnTo>
                  <a:pt x="167608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01806" y="882369"/>
            <a:ext cx="2523490" cy="1012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Q10</a:t>
            </a:r>
            <a:r>
              <a:rPr dirty="0" sz="1100" spc="-2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—</a:t>
            </a:r>
            <a:r>
              <a:rPr dirty="0" sz="1100" spc="-2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Incomplete</a:t>
            </a:r>
            <a:r>
              <a:rPr dirty="0" sz="1100" spc="-2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Rides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with</a:t>
            </a:r>
            <a:r>
              <a:rPr dirty="0" sz="1100" spc="-2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Reasons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Arial MT"/>
              <a:cs typeface="Arial MT"/>
            </a:endParaRPr>
          </a:p>
          <a:p>
            <a:pPr marL="147955" marR="5080">
              <a:lnSpc>
                <a:spcPct val="12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CREATE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VIEW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Incomplete_Rides_Reason </a:t>
            </a:r>
            <a:r>
              <a:rPr dirty="0" sz="850" spc="-25">
                <a:solidFill>
                  <a:srgbClr val="D63948"/>
                </a:solidFill>
                <a:latin typeface="Arial MT"/>
                <a:cs typeface="Arial MT"/>
              </a:rPr>
              <a:t>AS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SELECT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 Booking_ID,</a:t>
            </a:r>
            <a:r>
              <a:rPr dirty="0" sz="850" spc="-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Incomplete_Rides_Reason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85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</a:pP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WHERE</a:t>
            </a:r>
            <a:r>
              <a:rPr dirty="0" sz="85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Incomplete_Rides</a:t>
            </a:r>
            <a:r>
              <a:rPr dirty="0" sz="850" spc="20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D63948"/>
                </a:solidFill>
                <a:latin typeface="Arial MT"/>
                <a:cs typeface="Arial MT"/>
              </a:rPr>
              <a:t>=</a:t>
            </a:r>
            <a:r>
              <a:rPr dirty="0" sz="850" spc="25">
                <a:solidFill>
                  <a:srgbClr val="D63948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63948"/>
                </a:solidFill>
                <a:latin typeface="Arial MT"/>
                <a:cs typeface="Arial MT"/>
              </a:rPr>
              <a:t>'Yes';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14506" y="2152357"/>
            <a:ext cx="3759835" cy="585470"/>
            <a:chOff x="4714506" y="2152357"/>
            <a:chExt cx="3759835" cy="585470"/>
          </a:xfrm>
        </p:grpSpPr>
        <p:sp>
          <p:nvSpPr>
            <p:cNvPr id="12" name="object 12"/>
            <p:cNvSpPr/>
            <p:nvPr/>
          </p:nvSpPr>
          <p:spPr>
            <a:xfrm>
              <a:off x="4714506" y="2152357"/>
              <a:ext cx="3759835" cy="585470"/>
            </a:xfrm>
            <a:custGeom>
              <a:avLst/>
              <a:gdLst/>
              <a:ahLst/>
              <a:cxnLst/>
              <a:rect l="l" t="t" r="r" b="b"/>
              <a:pathLst>
                <a:path w="3759834" h="585469">
                  <a:moveTo>
                    <a:pt x="3657942" y="0"/>
                  </a:moveTo>
                  <a:lnTo>
                    <a:pt x="101675" y="0"/>
                  </a:lnTo>
                  <a:lnTo>
                    <a:pt x="62257" y="8043"/>
                  </a:lnTo>
                  <a:lnTo>
                    <a:pt x="29921" y="29921"/>
                  </a:lnTo>
                  <a:lnTo>
                    <a:pt x="8043" y="62257"/>
                  </a:lnTo>
                  <a:lnTo>
                    <a:pt x="0" y="101676"/>
                  </a:lnTo>
                  <a:lnTo>
                    <a:pt x="0" y="483438"/>
                  </a:lnTo>
                  <a:lnTo>
                    <a:pt x="8043" y="522856"/>
                  </a:lnTo>
                  <a:lnTo>
                    <a:pt x="29921" y="555193"/>
                  </a:lnTo>
                  <a:lnTo>
                    <a:pt x="62257" y="577071"/>
                  </a:lnTo>
                  <a:lnTo>
                    <a:pt x="101675" y="585114"/>
                  </a:lnTo>
                  <a:lnTo>
                    <a:pt x="3657942" y="585114"/>
                  </a:lnTo>
                  <a:lnTo>
                    <a:pt x="3697361" y="577071"/>
                  </a:lnTo>
                  <a:lnTo>
                    <a:pt x="3729697" y="555193"/>
                  </a:lnTo>
                  <a:lnTo>
                    <a:pt x="3751576" y="522856"/>
                  </a:lnTo>
                  <a:lnTo>
                    <a:pt x="3759619" y="483438"/>
                  </a:lnTo>
                  <a:lnTo>
                    <a:pt x="3759619" y="101676"/>
                  </a:lnTo>
                  <a:lnTo>
                    <a:pt x="3751576" y="62257"/>
                  </a:lnTo>
                  <a:lnTo>
                    <a:pt x="3729697" y="29921"/>
                  </a:lnTo>
                  <a:lnTo>
                    <a:pt x="3697361" y="8043"/>
                  </a:lnTo>
                  <a:lnTo>
                    <a:pt x="3657942" y="0"/>
                  </a:lnTo>
                  <a:close/>
                </a:path>
              </a:pathLst>
            </a:custGeom>
            <a:solidFill>
              <a:srgbClr val="D0D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460" y="2313686"/>
              <a:ext cx="141163" cy="11296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68887" y="2255532"/>
            <a:ext cx="118999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10" b="1">
                <a:latin typeface="Arial"/>
                <a:cs typeface="Arial"/>
              </a:rPr>
              <a:t>Retrieve</a:t>
            </a:r>
            <a:r>
              <a:rPr dirty="0" sz="850" spc="-15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all</a:t>
            </a:r>
            <a:r>
              <a:rPr dirty="0" sz="850" spc="-10" b="1">
                <a:latin typeface="Arial"/>
                <a:cs typeface="Arial"/>
              </a:rPr>
              <a:t> </a:t>
            </a:r>
            <a:r>
              <a:rPr dirty="0" sz="850" b="1">
                <a:latin typeface="Arial"/>
                <a:cs typeface="Arial"/>
              </a:rPr>
              <a:t>views:</a:t>
            </a:r>
            <a:r>
              <a:rPr dirty="0" sz="850" spc="-10" b="1">
                <a:latin typeface="Arial"/>
                <a:cs typeface="Arial"/>
              </a:rPr>
              <a:t> </a:t>
            </a:r>
            <a:r>
              <a:rPr dirty="0" sz="850" spc="-25">
                <a:latin typeface="Arial MT"/>
                <a:cs typeface="Arial MT"/>
              </a:rPr>
              <a:t>Run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5654" y="2270518"/>
            <a:ext cx="1401445" cy="13398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00"/>
              </a:lnSpc>
            </a:pPr>
            <a:r>
              <a:rPr dirty="0" sz="850" spc="-30">
                <a:latin typeface="Lucida Sans Unicode"/>
                <a:cs typeface="Lucida Sans Unicode"/>
              </a:rPr>
              <a:t>SELECT</a:t>
            </a:r>
            <a:r>
              <a:rPr dirty="0" sz="850" spc="-45">
                <a:latin typeface="Lucida Sans Unicode"/>
                <a:cs typeface="Lucida Sans Unicode"/>
              </a:rPr>
              <a:t> </a:t>
            </a:r>
            <a:r>
              <a:rPr dirty="0" sz="850" spc="50">
                <a:latin typeface="Lucida Sans Unicode"/>
                <a:cs typeface="Lucida Sans Unicode"/>
              </a:rPr>
              <a:t>*</a:t>
            </a:r>
            <a:r>
              <a:rPr dirty="0" sz="850" spc="-40">
                <a:latin typeface="Lucida Sans Unicode"/>
                <a:cs typeface="Lucida Sans Unicode"/>
              </a:rPr>
              <a:t> </a:t>
            </a:r>
            <a:r>
              <a:rPr dirty="0" sz="850">
                <a:latin typeface="Lucida Sans Unicode"/>
                <a:cs typeface="Lucida Sans Unicode"/>
              </a:rPr>
              <a:t>FROM</a:t>
            </a:r>
            <a:r>
              <a:rPr dirty="0" sz="850" spc="-40">
                <a:latin typeface="Lucida Sans Unicode"/>
                <a:cs typeface="Lucida Sans Unicode"/>
              </a:rPr>
              <a:t> </a:t>
            </a:r>
            <a:r>
              <a:rPr dirty="0" sz="850" spc="-20">
                <a:latin typeface="Lucida Sans Unicode"/>
                <a:cs typeface="Lucida Sans Unicode"/>
              </a:rPr>
              <a:t>view_name;</a:t>
            </a:r>
            <a:endParaRPr sz="8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4053" y="2255532"/>
            <a:ext cx="53530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each</a:t>
            </a:r>
            <a:r>
              <a:rPr dirty="0" sz="850" spc="-2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of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8887" y="2415775"/>
            <a:ext cx="148907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10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views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access</a:t>
            </a:r>
            <a:r>
              <a:rPr dirty="0" sz="850" spc="-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results.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419" y="632668"/>
            <a:ext cx="3150870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10</a:t>
            </a:r>
            <a:r>
              <a:rPr dirty="0" sz="2750" spc="-15"/>
              <a:t> </a:t>
            </a:r>
            <a:r>
              <a:rPr dirty="0" sz="2750"/>
              <a:t>Power</a:t>
            </a:r>
            <a:r>
              <a:rPr dirty="0" sz="2750" spc="-15"/>
              <a:t> </a:t>
            </a:r>
            <a:r>
              <a:rPr dirty="0" sz="2750"/>
              <a:t>BI</a:t>
            </a:r>
            <a:r>
              <a:rPr dirty="0" sz="2750" spc="-15"/>
              <a:t> </a:t>
            </a:r>
            <a:r>
              <a:rPr dirty="0" sz="2750" spc="-10"/>
              <a:t>Visuals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3419" y="1363611"/>
            <a:ext cx="5580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Five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dashboard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categories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covering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volume,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vehicles,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revenue,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cancellations,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ratings.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765554"/>
            <a:ext cx="283518" cy="283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419" y="2209914"/>
            <a:ext cx="2572385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Overall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1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Volume</a:t>
            </a:r>
            <a:r>
              <a:rPr dirty="0" sz="11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Over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Time</a:t>
            </a:r>
            <a:r>
              <a:rPr dirty="0" sz="11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1100" spc="-4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Status Breakdown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2434" y="1765554"/>
            <a:ext cx="283518" cy="2835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59734" y="2209914"/>
            <a:ext cx="2393315" cy="500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35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 spc="-20">
                <a:solidFill>
                  <a:srgbClr val="3C3D44"/>
                </a:solidFill>
                <a:latin typeface="Arial MT"/>
                <a:cs typeface="Arial MT"/>
              </a:rPr>
              <a:t>Type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Top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5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Vehicle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Types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by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Distance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48743" y="1765554"/>
            <a:ext cx="283518" cy="2835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36043" y="2209914"/>
            <a:ext cx="242443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Revenue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Revenue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by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Payment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Method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Top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5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Customers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Distance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Distribution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6119" y="3269906"/>
            <a:ext cx="283518" cy="2835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3419" y="3714267"/>
            <a:ext cx="2587625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Cancellation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Cancelled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Rides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Reasons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&amp;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2434" y="3269906"/>
            <a:ext cx="283518" cy="28351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259734" y="3714267"/>
            <a:ext cx="2586990" cy="723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Distribution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·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vs.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1789" y="328164"/>
            <a:ext cx="292862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Power</a:t>
            </a:r>
            <a:r>
              <a:rPr dirty="0" sz="2200" spc="-40"/>
              <a:t> </a:t>
            </a:r>
            <a:r>
              <a:rPr dirty="0" sz="2200"/>
              <a:t>BI</a:t>
            </a:r>
            <a:r>
              <a:rPr dirty="0" sz="2200" spc="-40"/>
              <a:t> </a:t>
            </a:r>
            <a:r>
              <a:rPr dirty="0" sz="2200"/>
              <a:t>Visual</a:t>
            </a:r>
            <a:r>
              <a:rPr dirty="0" sz="2200" spc="-50"/>
              <a:t> </a:t>
            </a:r>
            <a:r>
              <a:rPr dirty="0" sz="2200" spc="-10"/>
              <a:t>Details</a:t>
            </a:r>
            <a:endParaRPr sz="2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489" y="935906"/>
            <a:ext cx="3759619" cy="37596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01806" y="2033333"/>
            <a:ext cx="2557780" cy="1355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Recommended</a:t>
            </a:r>
            <a:r>
              <a:rPr dirty="0" sz="1100" spc="-20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74767C"/>
                </a:solidFill>
                <a:latin typeface="Arial MT"/>
                <a:cs typeface="Arial MT"/>
              </a:rPr>
              <a:t>Chart</a:t>
            </a:r>
            <a:r>
              <a:rPr dirty="0" sz="1100" spc="-15">
                <a:solidFill>
                  <a:srgbClr val="74767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74767C"/>
                </a:solidFill>
                <a:latin typeface="Arial MT"/>
                <a:cs typeface="Arial MT"/>
              </a:rPr>
              <a:t>Types</a:t>
            </a:r>
            <a:endParaRPr sz="11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Line</a:t>
            </a:r>
            <a:r>
              <a:rPr dirty="0" sz="850" spc="-30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chart</a:t>
            </a:r>
            <a:r>
              <a:rPr dirty="0" sz="850" spc="-2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Ride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volume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over</a:t>
            </a:r>
            <a:r>
              <a:rPr dirty="0" sz="8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3C3D44"/>
                </a:solidFill>
                <a:latin typeface="Arial MT"/>
                <a:cs typeface="Arial MT"/>
              </a:rPr>
              <a:t>time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Doughnut</a:t>
            </a:r>
            <a:r>
              <a:rPr dirty="0" sz="850" spc="-1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Booking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status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 breakdown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Bar</a:t>
            </a:r>
            <a:r>
              <a:rPr dirty="0" sz="850" spc="-1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chart</a:t>
            </a:r>
            <a:r>
              <a:rPr dirty="0" sz="850" spc="-1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Top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vehicles,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cancel</a:t>
            </a:r>
            <a:r>
              <a:rPr dirty="0" sz="8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reasons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spc="-10" b="1">
                <a:solidFill>
                  <a:srgbClr val="3C3D44"/>
                </a:solidFill>
                <a:latin typeface="Arial"/>
                <a:cs typeface="Arial"/>
              </a:rPr>
              <a:t>Stacked</a:t>
            </a:r>
            <a:r>
              <a:rPr dirty="0" sz="850" spc="-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bar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Revenue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 by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payment</a:t>
            </a:r>
            <a:r>
              <a:rPr dirty="0" sz="8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method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spc="-10" b="1">
                <a:solidFill>
                  <a:srgbClr val="3C3D44"/>
                </a:solidFill>
                <a:latin typeface="Arial"/>
                <a:cs typeface="Arial"/>
              </a:rPr>
              <a:t>Histogram</a:t>
            </a:r>
            <a:r>
              <a:rPr dirty="0" sz="850" spc="-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Ride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distance</a:t>
            </a:r>
            <a:r>
              <a:rPr dirty="0" sz="8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distribution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Scatter</a:t>
            </a:r>
            <a:r>
              <a:rPr dirty="0" sz="850" spc="-30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plot</a:t>
            </a:r>
            <a:r>
              <a:rPr dirty="0" sz="850" spc="-30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Customer</a:t>
            </a:r>
            <a:r>
              <a:rPr dirty="0" sz="8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vs.</a:t>
            </a:r>
            <a:r>
              <a:rPr dirty="0" sz="85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endParaRPr sz="8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Box</a:t>
            </a:r>
            <a:r>
              <a:rPr dirty="0" sz="850" spc="-30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3C3D44"/>
                </a:solidFill>
                <a:latin typeface="Arial"/>
                <a:cs typeface="Arial"/>
              </a:rPr>
              <a:t>plot</a:t>
            </a:r>
            <a:r>
              <a:rPr dirty="0" sz="850" spc="-25" b="1">
                <a:solidFill>
                  <a:srgbClr val="3C3D44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Driver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3C3D44"/>
                </a:solidFill>
                <a:latin typeface="Arial MT"/>
                <a:cs typeface="Arial MT"/>
              </a:rPr>
              <a:t>rating</a:t>
            </a:r>
            <a:r>
              <a:rPr dirty="0" sz="85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3C3D44"/>
                </a:solidFill>
                <a:latin typeface="Arial MT"/>
                <a:cs typeface="Arial MT"/>
              </a:rPr>
              <a:t>distribution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419" y="847576"/>
            <a:ext cx="2491105" cy="444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Key</a:t>
            </a:r>
            <a:r>
              <a:rPr dirty="0" sz="2750" spc="-20"/>
              <a:t> </a:t>
            </a:r>
            <a:r>
              <a:rPr dirty="0" sz="2750" spc="-10"/>
              <a:t>Takeaways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3419" y="1578508"/>
            <a:ext cx="32073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Three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pillars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of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this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end-to-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end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data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analyst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project.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737" y="1978069"/>
            <a:ext cx="2627630" cy="2300605"/>
            <a:chOff x="493737" y="1978069"/>
            <a:chExt cx="2627630" cy="2300605"/>
          </a:xfrm>
        </p:grpSpPr>
        <p:sp>
          <p:nvSpPr>
            <p:cNvPr id="5" name="object 5"/>
            <p:cNvSpPr/>
            <p:nvPr/>
          </p:nvSpPr>
          <p:spPr>
            <a:xfrm>
              <a:off x="496119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5" h="2295525">
                  <a:moveTo>
                    <a:pt x="2495130" y="0"/>
                  </a:moveTo>
                  <a:lnTo>
                    <a:pt x="127595" y="0"/>
                  </a:lnTo>
                  <a:lnTo>
                    <a:pt x="78128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2167712"/>
                  </a:lnTo>
                  <a:lnTo>
                    <a:pt x="10093" y="2217174"/>
                  </a:lnTo>
                  <a:lnTo>
                    <a:pt x="37548" y="2257750"/>
                  </a:lnTo>
                  <a:lnTo>
                    <a:pt x="78128" y="2285203"/>
                  </a:lnTo>
                  <a:lnTo>
                    <a:pt x="127595" y="2295296"/>
                  </a:lnTo>
                  <a:lnTo>
                    <a:pt x="2495130" y="2295296"/>
                  </a:lnTo>
                  <a:lnTo>
                    <a:pt x="2544594" y="2285203"/>
                  </a:lnTo>
                  <a:lnTo>
                    <a:pt x="2585175" y="2257750"/>
                  </a:lnTo>
                  <a:lnTo>
                    <a:pt x="2612633" y="2217174"/>
                  </a:lnTo>
                  <a:lnTo>
                    <a:pt x="2622727" y="2167712"/>
                  </a:lnTo>
                  <a:lnTo>
                    <a:pt x="2622727" y="127596"/>
                  </a:lnTo>
                  <a:lnTo>
                    <a:pt x="2612633" y="78127"/>
                  </a:lnTo>
                  <a:lnTo>
                    <a:pt x="2585175" y="37547"/>
                  </a:lnTo>
                  <a:lnTo>
                    <a:pt x="2544594" y="10092"/>
                  </a:lnTo>
                  <a:lnTo>
                    <a:pt x="2495130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6119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5" h="2295525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8" y="10092"/>
                  </a:lnTo>
                  <a:lnTo>
                    <a:pt x="127595" y="0"/>
                  </a:lnTo>
                  <a:lnTo>
                    <a:pt x="2495130" y="0"/>
                  </a:lnTo>
                  <a:lnTo>
                    <a:pt x="2544594" y="10092"/>
                  </a:lnTo>
                  <a:lnTo>
                    <a:pt x="2585175" y="37547"/>
                  </a:lnTo>
                  <a:lnTo>
                    <a:pt x="2612633" y="78127"/>
                  </a:lnTo>
                  <a:lnTo>
                    <a:pt x="2622727" y="127596"/>
                  </a:lnTo>
                  <a:lnTo>
                    <a:pt x="2622727" y="2167712"/>
                  </a:lnTo>
                  <a:lnTo>
                    <a:pt x="2612633" y="2217174"/>
                  </a:lnTo>
                  <a:lnTo>
                    <a:pt x="2585175" y="2257750"/>
                  </a:lnTo>
                  <a:lnTo>
                    <a:pt x="2544594" y="2285203"/>
                  </a:lnTo>
                  <a:lnTo>
                    <a:pt x="2495130" y="2295296"/>
                  </a:lnTo>
                  <a:lnTo>
                    <a:pt x="127595" y="2295296"/>
                  </a:lnTo>
                  <a:lnTo>
                    <a:pt x="78128" y="2285203"/>
                  </a:lnTo>
                  <a:lnTo>
                    <a:pt x="37548" y="2257750"/>
                  </a:lnTo>
                  <a:lnTo>
                    <a:pt x="10093" y="2217174"/>
                  </a:lnTo>
                  <a:lnTo>
                    <a:pt x="0" y="2167712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640" y="2126970"/>
              <a:ext cx="425276" cy="4252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29940" y="2677680"/>
            <a:ext cx="2059305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Build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the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 Dataset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Model</a:t>
            </a:r>
            <a:r>
              <a:rPr dirty="0" sz="1100" spc="-4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19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columns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with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realistic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constraints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62%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success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 rate,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capped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cancellations,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weekend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spikes,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Bangalore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locations.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58216" y="1978069"/>
            <a:ext cx="2627630" cy="2300605"/>
            <a:chOff x="3258216" y="1978069"/>
            <a:chExt cx="2627630" cy="2300605"/>
          </a:xfrm>
        </p:grpSpPr>
        <p:sp>
          <p:nvSpPr>
            <p:cNvPr id="10" name="object 10"/>
            <p:cNvSpPr/>
            <p:nvPr/>
          </p:nvSpPr>
          <p:spPr>
            <a:xfrm>
              <a:off x="3260598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5" h="2295525">
                  <a:moveTo>
                    <a:pt x="2495130" y="0"/>
                  </a:moveTo>
                  <a:lnTo>
                    <a:pt x="127595" y="0"/>
                  </a:lnTo>
                  <a:lnTo>
                    <a:pt x="78128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2167712"/>
                  </a:lnTo>
                  <a:lnTo>
                    <a:pt x="10093" y="2217174"/>
                  </a:lnTo>
                  <a:lnTo>
                    <a:pt x="37548" y="2257750"/>
                  </a:lnTo>
                  <a:lnTo>
                    <a:pt x="78128" y="2285203"/>
                  </a:lnTo>
                  <a:lnTo>
                    <a:pt x="127595" y="2295296"/>
                  </a:lnTo>
                  <a:lnTo>
                    <a:pt x="2495130" y="2295296"/>
                  </a:lnTo>
                  <a:lnTo>
                    <a:pt x="2544594" y="2285203"/>
                  </a:lnTo>
                  <a:lnTo>
                    <a:pt x="2585175" y="2257750"/>
                  </a:lnTo>
                  <a:lnTo>
                    <a:pt x="2612633" y="2217174"/>
                  </a:lnTo>
                  <a:lnTo>
                    <a:pt x="2622727" y="2167712"/>
                  </a:lnTo>
                  <a:lnTo>
                    <a:pt x="2622727" y="127596"/>
                  </a:lnTo>
                  <a:lnTo>
                    <a:pt x="2612633" y="78127"/>
                  </a:lnTo>
                  <a:lnTo>
                    <a:pt x="2585175" y="37547"/>
                  </a:lnTo>
                  <a:lnTo>
                    <a:pt x="2544594" y="10092"/>
                  </a:lnTo>
                  <a:lnTo>
                    <a:pt x="2495130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60598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5" h="2295525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8" y="10092"/>
                  </a:lnTo>
                  <a:lnTo>
                    <a:pt x="127595" y="0"/>
                  </a:lnTo>
                  <a:lnTo>
                    <a:pt x="2495130" y="0"/>
                  </a:lnTo>
                  <a:lnTo>
                    <a:pt x="2544594" y="10092"/>
                  </a:lnTo>
                  <a:lnTo>
                    <a:pt x="2585175" y="37547"/>
                  </a:lnTo>
                  <a:lnTo>
                    <a:pt x="2612633" y="78127"/>
                  </a:lnTo>
                  <a:lnTo>
                    <a:pt x="2622727" y="127596"/>
                  </a:lnTo>
                  <a:lnTo>
                    <a:pt x="2622727" y="2167712"/>
                  </a:lnTo>
                  <a:lnTo>
                    <a:pt x="2612633" y="2217174"/>
                  </a:lnTo>
                  <a:lnTo>
                    <a:pt x="2585175" y="2257750"/>
                  </a:lnTo>
                  <a:lnTo>
                    <a:pt x="2544594" y="2285203"/>
                  </a:lnTo>
                  <a:lnTo>
                    <a:pt x="2495130" y="2295296"/>
                  </a:lnTo>
                  <a:lnTo>
                    <a:pt x="127595" y="2295296"/>
                  </a:lnTo>
                  <a:lnTo>
                    <a:pt x="78128" y="2285203"/>
                  </a:lnTo>
                  <a:lnTo>
                    <a:pt x="37548" y="2257750"/>
                  </a:lnTo>
                  <a:lnTo>
                    <a:pt x="10093" y="2217174"/>
                  </a:lnTo>
                  <a:lnTo>
                    <a:pt x="0" y="2167712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7117" y="2126970"/>
              <a:ext cx="425276" cy="42527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394418" y="2677680"/>
            <a:ext cx="2214245" cy="1169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Write</a:t>
            </a:r>
            <a:r>
              <a:rPr dirty="0" sz="135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SQL</a:t>
            </a:r>
            <a:r>
              <a:rPr dirty="0" sz="135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Queries</a:t>
            </a:r>
            <a:endParaRPr sz="1350">
              <a:latin typeface="Arial MT"/>
              <a:cs typeface="Arial MT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Create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10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views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covering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SELECT,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AVG,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COUNT,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GROUP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BY,</a:t>
            </a:r>
            <a:endParaRPr sz="1100">
              <a:latin typeface="Arial MT"/>
              <a:cs typeface="Arial MT"/>
            </a:endParaRPr>
          </a:p>
          <a:p>
            <a:pPr marL="12700" marR="59055">
              <a:lnSpc>
                <a:spcPct val="133000"/>
              </a:lnSpc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MAX/MIN,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SUM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then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query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each</a:t>
            </a:r>
            <a:r>
              <a:rPr dirty="0" sz="1100" spc="-3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view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for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clean</a:t>
            </a:r>
            <a:r>
              <a:rPr dirty="0" sz="1100" spc="-3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results.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22701" y="1978069"/>
            <a:ext cx="2627630" cy="2300605"/>
            <a:chOff x="6022701" y="1978069"/>
            <a:chExt cx="2627630" cy="2300605"/>
          </a:xfrm>
        </p:grpSpPr>
        <p:sp>
          <p:nvSpPr>
            <p:cNvPr id="15" name="object 15"/>
            <p:cNvSpPr/>
            <p:nvPr/>
          </p:nvSpPr>
          <p:spPr>
            <a:xfrm>
              <a:off x="6025083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4" h="2295525">
                  <a:moveTo>
                    <a:pt x="2495130" y="0"/>
                  </a:moveTo>
                  <a:lnTo>
                    <a:pt x="127595" y="0"/>
                  </a:lnTo>
                  <a:lnTo>
                    <a:pt x="78128" y="10092"/>
                  </a:lnTo>
                  <a:lnTo>
                    <a:pt x="37548" y="37547"/>
                  </a:lnTo>
                  <a:lnTo>
                    <a:pt x="10093" y="78127"/>
                  </a:lnTo>
                  <a:lnTo>
                    <a:pt x="0" y="127596"/>
                  </a:lnTo>
                  <a:lnTo>
                    <a:pt x="0" y="2167712"/>
                  </a:lnTo>
                  <a:lnTo>
                    <a:pt x="10093" y="2217174"/>
                  </a:lnTo>
                  <a:lnTo>
                    <a:pt x="37548" y="2257750"/>
                  </a:lnTo>
                  <a:lnTo>
                    <a:pt x="78128" y="2285203"/>
                  </a:lnTo>
                  <a:lnTo>
                    <a:pt x="127595" y="2295296"/>
                  </a:lnTo>
                  <a:lnTo>
                    <a:pt x="2495130" y="2295296"/>
                  </a:lnTo>
                  <a:lnTo>
                    <a:pt x="2544594" y="2285203"/>
                  </a:lnTo>
                  <a:lnTo>
                    <a:pt x="2585175" y="2257750"/>
                  </a:lnTo>
                  <a:lnTo>
                    <a:pt x="2612633" y="2217174"/>
                  </a:lnTo>
                  <a:lnTo>
                    <a:pt x="2622727" y="2167712"/>
                  </a:lnTo>
                  <a:lnTo>
                    <a:pt x="2622727" y="127596"/>
                  </a:lnTo>
                  <a:lnTo>
                    <a:pt x="2612633" y="78127"/>
                  </a:lnTo>
                  <a:lnTo>
                    <a:pt x="2585175" y="37547"/>
                  </a:lnTo>
                  <a:lnTo>
                    <a:pt x="2544594" y="10092"/>
                  </a:lnTo>
                  <a:lnTo>
                    <a:pt x="2495130" y="0"/>
                  </a:lnTo>
                  <a:close/>
                </a:path>
              </a:pathLst>
            </a:custGeom>
            <a:solidFill>
              <a:srgbClr val="EEEF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25083" y="1980450"/>
              <a:ext cx="2623185" cy="2295525"/>
            </a:xfrm>
            <a:custGeom>
              <a:avLst/>
              <a:gdLst/>
              <a:ahLst/>
              <a:cxnLst/>
              <a:rect l="l" t="t" r="r" b="b"/>
              <a:pathLst>
                <a:path w="2623184" h="2295525">
                  <a:moveTo>
                    <a:pt x="0" y="127596"/>
                  </a:moveTo>
                  <a:lnTo>
                    <a:pt x="10093" y="78127"/>
                  </a:lnTo>
                  <a:lnTo>
                    <a:pt x="37548" y="37547"/>
                  </a:lnTo>
                  <a:lnTo>
                    <a:pt x="78128" y="10092"/>
                  </a:lnTo>
                  <a:lnTo>
                    <a:pt x="127595" y="0"/>
                  </a:lnTo>
                  <a:lnTo>
                    <a:pt x="2495130" y="0"/>
                  </a:lnTo>
                  <a:lnTo>
                    <a:pt x="2544594" y="10092"/>
                  </a:lnTo>
                  <a:lnTo>
                    <a:pt x="2585175" y="37547"/>
                  </a:lnTo>
                  <a:lnTo>
                    <a:pt x="2612633" y="78127"/>
                  </a:lnTo>
                  <a:lnTo>
                    <a:pt x="2622727" y="127596"/>
                  </a:lnTo>
                  <a:lnTo>
                    <a:pt x="2622727" y="2167712"/>
                  </a:lnTo>
                  <a:lnTo>
                    <a:pt x="2612633" y="2217174"/>
                  </a:lnTo>
                  <a:lnTo>
                    <a:pt x="2585175" y="2257750"/>
                  </a:lnTo>
                  <a:lnTo>
                    <a:pt x="2544594" y="2285203"/>
                  </a:lnTo>
                  <a:lnTo>
                    <a:pt x="2495130" y="2295296"/>
                  </a:lnTo>
                  <a:lnTo>
                    <a:pt x="127595" y="2295296"/>
                  </a:lnTo>
                  <a:lnTo>
                    <a:pt x="78128" y="2285203"/>
                  </a:lnTo>
                  <a:lnTo>
                    <a:pt x="37548" y="2257750"/>
                  </a:lnTo>
                  <a:lnTo>
                    <a:pt x="10093" y="2217174"/>
                  </a:lnTo>
                  <a:lnTo>
                    <a:pt x="0" y="2167712"/>
                  </a:lnTo>
                  <a:lnTo>
                    <a:pt x="0" y="127596"/>
                  </a:lnTo>
                  <a:close/>
                </a:path>
              </a:pathLst>
            </a:custGeom>
            <a:ln w="4762">
              <a:solidFill>
                <a:srgbClr val="C5C6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1603" y="2126970"/>
              <a:ext cx="425276" cy="42527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58903" y="2677680"/>
            <a:ext cx="22745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Design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Power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3C3D44"/>
                </a:solidFill>
                <a:latin typeface="Arial MT"/>
                <a:cs typeface="Arial MT"/>
              </a:rPr>
              <a:t>BI</a:t>
            </a:r>
            <a:r>
              <a:rPr dirty="0" sz="1350" spc="-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3C3D44"/>
                </a:solidFill>
                <a:latin typeface="Arial MT"/>
                <a:cs typeface="Arial MT"/>
              </a:rPr>
              <a:t>Dashboards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8903" y="3150997"/>
            <a:ext cx="2153285" cy="917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Build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five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dashboard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categories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—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Overall,</a:t>
            </a:r>
            <a:r>
              <a:rPr dirty="0" sz="1100" spc="-5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Vehicle,</a:t>
            </a:r>
            <a:r>
              <a:rPr dirty="0" sz="1100" spc="-5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Revenue, Cancellation,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and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Ratings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3C3D44"/>
                </a:solidFill>
                <a:latin typeface="Arial MT"/>
                <a:cs typeface="Arial MT"/>
              </a:rPr>
              <a:t>with purpose-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built</a:t>
            </a:r>
            <a:r>
              <a:rPr dirty="0" sz="1100" spc="5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C3D44"/>
                </a:solidFill>
                <a:latin typeface="Arial MT"/>
                <a:cs typeface="Arial MT"/>
              </a:rPr>
              <a:t>chart</a:t>
            </a:r>
            <a:r>
              <a:rPr dirty="0" sz="1100" spc="10">
                <a:solidFill>
                  <a:srgbClr val="3C3D44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C3D44"/>
                </a:solidFill>
                <a:latin typeface="Arial MT"/>
                <a:cs typeface="Arial MT"/>
              </a:rPr>
              <a:t>types.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2026-06-02T08:15:32Z</dcterms:created>
  <dcterms:modified xsi:type="dcterms:W3CDTF">2026-06-02T08:15:32Z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2026-06-02T00:00:00Z</vt:filetime>
  </property>
  <property fmtid="{D5CDD505-2E9C-101B-9397-08002B2CF9AE}" pid="4" name="LastSaved">
    <vt:filetime>2026-06-02T00:00:00Z</vt:filetime>
  </property>
  <property fmtid="{D5CDD505-2E9C-101B-9397-08002B2CF9AE}" pid="5" name="Producer">
    <vt:lpwstr>Pdftools SDK</vt:lpwstr>
  </property>
</Properties>
</file>